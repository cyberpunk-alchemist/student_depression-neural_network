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2" r:id="rId4"/>
    <p:sldId id="260" r:id="rId5"/>
    <p:sldId id="261" r:id="rId6"/>
    <p:sldId id="263" r:id="rId7"/>
    <p:sldId id="269" r:id="rId8"/>
    <p:sldId id="270" r:id="rId9"/>
    <p:sldId id="264" r:id="rId10"/>
    <p:sldId id="271" r:id="rId11"/>
    <p:sldId id="268" r:id="rId12"/>
    <p:sldId id="272" r:id="rId13"/>
    <p:sldId id="265" r:id="rId14"/>
    <p:sldId id="273" r:id="rId15"/>
    <p:sldId id="266" r:id="rId16"/>
    <p:sldId id="267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9FDB2-1DBB-40BA-AA28-5122EE6E2D15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106B2-78C4-4F42-80F3-C6C258B29DD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804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3CB601-0B2C-6577-4D8D-44BC281E0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57CE750-A8EF-5822-F01F-314561D44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097BDF7-CEC1-EEA1-DD9E-79AA94CF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6D9B-4042-4A53-BCE2-C9EFB2233DEE}" type="datetime1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BDCA4A-7D7A-6832-40D4-D79652677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EE77CEB-5AAD-E7F1-4A45-3721612D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009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759A1D-DED6-8C12-3A31-E76DA782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D89117-CC00-6DDD-3E4A-2FD3C03A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54CB34B-5B8E-A59A-AA82-1AD651790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D8720-D818-4A70-9320-2ED972E25B4B}" type="datetime1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5ED5765-45A6-0CD1-DB61-7BC71766F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3386D0-A791-50C7-EE91-CA4769B9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0484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C8FFD-0FAD-BAD1-B581-6B8DBF4A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C8DA835-6537-7B69-634C-96DF6A62F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AE755C-9FDD-92E5-7C51-420A5723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6878-B5F3-4A96-96BE-4E4D4E9D4896}" type="datetime1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6F84088-F9F1-7310-A910-41BE7B58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A9118FB-FD32-3EE5-71BC-151E161B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785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84976F-1696-DDA6-7B3C-C7CF0529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0CA1366-D7CE-1D0B-CAD1-028E1C922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F259070-A19D-CD80-AD26-15F6DD43A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87F256D-BD4C-A6BC-809B-8E928539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F20-0008-48E1-903E-F9F0D6722DB0}" type="datetime1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49DE087-3316-9D62-8905-904F6F2E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70D6877-7DCC-8690-FA8C-37FC2FA5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336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596DE7-0336-DCBD-0805-22AA860B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EF4B374-5463-1097-6DC8-34AB289F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B0124BD-C1F2-C480-E347-1A761AD34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B4E0F6B-84D5-3B5F-3266-BF9256309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6BCA46B-6E28-EADF-78D7-97545F64F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C7FD1C73-C00D-A501-E062-CCD831B0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85856-292A-4888-8668-4F91AEB2CA36}" type="datetime1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D40CBFF-2B0C-3F4A-18D0-A02CB801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1300723-17C4-5FFF-2EF6-5F473B4A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046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12BBD7-8991-EDEA-EE1E-A874A130D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1B39EB9E-1C4F-5840-8617-553BBD43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DA5B8-D7B9-4DE2-B9FA-C102FB2B594A}" type="datetime1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BF0E7AA-550A-3295-1FCD-77868727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E9DAC9C-D82D-19F5-48ED-767B8957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3735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D9706A65-1D85-6C76-BAC8-7C05799B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C715-A2CA-4B46-8D5C-3FB58B27BFE1}" type="datetime1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DE111EA-4F21-8256-4253-9E0D8135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CFA4A98-8E22-2EF5-7F0B-87DC59DA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293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0C7F89-8BAA-0FB1-1FD1-B3AC2124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A1F9A5-6026-7EC7-4D4F-E5BDFB740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F9D2BE5-AC7C-1D2C-96DE-7C0F5B871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57D9CBD-5CDB-F6BD-29D6-013A7911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12AE-6FC7-4C04-ACD7-96395FDC8F42}" type="datetime1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1F8C3AB-73B6-37C3-A421-4FA23208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5FCCE23-6EA2-8975-20B0-3F713D00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494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3963EE-28BC-E809-4D56-61E122716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A8B61B74-88F6-EAE8-D54B-97A964E51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E14C0A-04F2-51D5-3BB5-69A6F4E90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CF1EDF3-4A93-A830-5B05-C8BB4B8A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EA37-5F75-4C02-912D-F98C19D0ED9F}" type="datetime1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1DA83D1-592D-1026-4DBF-CFDF08CEB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D410D43-8C73-3D95-5273-4815C45D6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909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8E4985-A536-AFE8-CC3F-AD9584660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5D3F7CE-8ACE-6C44-F4E3-7E541FB4F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67CFEF9-7706-5B9B-A0FC-877314A5B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D9D-CCF7-4E23-9938-C582E5AD2A5B}" type="datetime1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D915C40-8A79-D1A5-F38E-46B958CB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F849E5F-4850-F63F-DEE2-28FF8C9A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286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BE6B684-52A1-E60D-28DB-A5AF02458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F44F4E4-A40D-CDCA-8BDC-4524711BD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7B01DE-FC07-13AD-3B2F-1912C0FA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BB976-7809-4715-BF46-C7BFA8E507C6}" type="datetime1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29260D2-8920-56E0-A9C0-ED387CC1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E45969B-B251-19FE-C6A7-A0D7E326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127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1AF1894-11F3-2511-8F4F-5D077E43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DD88D95-CCF6-57E4-AC56-01D7B9DB4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B7FBD0-D627-5F94-AE0D-EC9A162BE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FB0EA-0C27-48C3-B01B-831BFD4193E2}" type="datetime1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6D451E4-3731-F945-C4F5-6FB85A737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76ECCE-6120-D867-92DE-705805216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8764C-041F-4485-A64C-B5188A1742A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935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AA7662-16ED-01A1-D481-E8819581A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228" y="1041400"/>
            <a:ext cx="10210801" cy="2387600"/>
          </a:xfrm>
        </p:spPr>
        <p:txBody>
          <a:bodyPr>
            <a:normAutofit fontScale="90000"/>
          </a:bodyPr>
          <a:lstStyle/>
          <a:p>
            <a:pPr algn="l"/>
            <a:r>
              <a:rPr lang="cs-CZ" b="1" dirty="0"/>
              <a:t>Strojové učení v datové analýze: </a:t>
            </a:r>
            <a:r>
              <a:rPr lang="cs-CZ" dirty="0"/>
              <a:t>Predikce výskytu deprese u studentů VŠ pomocí neuronové sítě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2AB1D0C-D65D-5E41-46EC-EA64E068A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228" y="3429000"/>
            <a:ext cx="9144000" cy="1655762"/>
          </a:xfrm>
        </p:spPr>
        <p:txBody>
          <a:bodyPr anchor="ctr">
            <a:normAutofit/>
          </a:bodyPr>
          <a:lstStyle/>
          <a:p>
            <a:pPr algn="l"/>
            <a:r>
              <a:rPr lang="cs-CZ" sz="3200" dirty="0"/>
              <a:t>Bc. Jan Koreš</a:t>
            </a:r>
          </a:p>
        </p:txBody>
      </p:sp>
    </p:spTree>
    <p:extLst>
      <p:ext uri="{BB962C8B-B14F-4D97-AF65-F5344CB8AC3E}">
        <p14:creationId xmlns:p14="http://schemas.microsoft.com/office/powerpoint/2010/main" val="169434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A28E35-8E10-8FCC-CC04-C8750572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Dataset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6D1FA8-3A09-27F1-54E7-D04A6E457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86" y="6492875"/>
            <a:ext cx="110707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600" dirty="0"/>
              <a:t>https://www.kaggle.com/datasets/ikynahidwin/depression-student-dataset?resource=download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40EB119-A862-1434-91FE-E66D27E70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10"/>
          <a:stretch>
            <a:fillRect/>
          </a:stretch>
        </p:blipFill>
        <p:spPr>
          <a:xfrm>
            <a:off x="0" y="1452054"/>
            <a:ext cx="12192000" cy="4959632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205D141-60E5-1C18-6E3C-D36ABC0DE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543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C0F9C-2506-FFA0-7CA9-F0AE9A80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E8CBBA-0234-CBE6-4262-FF11C3AD4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Dataset</a:t>
            </a:r>
            <a:r>
              <a:rPr lang="cs-CZ" dirty="0"/>
              <a:t> – proměnné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C7FAE0-2EDC-B1A7-2AA5-28348C6F7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Pohlaví </a:t>
            </a:r>
          </a:p>
          <a:p>
            <a:pPr lvl="1"/>
            <a:r>
              <a:rPr lang="cs-CZ" dirty="0"/>
              <a:t>Muž: 0, Žena: 1</a:t>
            </a:r>
          </a:p>
          <a:p>
            <a:r>
              <a:rPr lang="cs-CZ" dirty="0"/>
              <a:t>Věk</a:t>
            </a:r>
          </a:p>
          <a:p>
            <a:r>
              <a:rPr lang="cs-CZ" dirty="0"/>
              <a:t>„Akademický tlak“</a:t>
            </a:r>
          </a:p>
          <a:p>
            <a:pPr lvl="1"/>
            <a:r>
              <a:rPr lang="cs-CZ" dirty="0"/>
              <a:t>Číselná hodnota 1 (nejnižší) až 5 (nejvyšší)</a:t>
            </a:r>
          </a:p>
          <a:p>
            <a:r>
              <a:rPr lang="cs-CZ" dirty="0"/>
              <a:t>Spokojenost se studiem </a:t>
            </a:r>
          </a:p>
          <a:p>
            <a:pPr lvl="1"/>
            <a:r>
              <a:rPr lang="cs-CZ" dirty="0"/>
              <a:t>Číselná hodnota 1 (nejnižší) až 5 (nejvyšší)</a:t>
            </a:r>
          </a:p>
          <a:p>
            <a:r>
              <a:rPr lang="cs-CZ" dirty="0"/>
              <a:t>Průměrná doba spánku (h)</a:t>
            </a:r>
          </a:p>
          <a:p>
            <a:pPr marL="0" indent="0">
              <a:buNone/>
            </a:pPr>
            <a:endParaRPr lang="cs-CZ" dirty="0"/>
          </a:p>
        </p:txBody>
      </p:sp>
      <p:grpSp>
        <p:nvGrpSpPr>
          <p:cNvPr id="15" name="Skupina 14">
            <a:extLst>
              <a:ext uri="{FF2B5EF4-FFF2-40B4-BE49-F238E27FC236}">
                <a16:creationId xmlns:a16="http://schemas.microsoft.com/office/drawing/2014/main" id="{7D3A03D7-CAB7-1A5F-D2C2-77B6051F7863}"/>
              </a:ext>
            </a:extLst>
          </p:cNvPr>
          <p:cNvGrpSpPr/>
          <p:nvPr/>
        </p:nvGrpSpPr>
        <p:grpSpPr>
          <a:xfrm>
            <a:off x="7424057" y="444646"/>
            <a:ext cx="4659088" cy="5932046"/>
            <a:chOff x="7182056" y="136525"/>
            <a:chExt cx="4901089" cy="6240167"/>
          </a:xfrm>
        </p:grpSpPr>
        <p:pic>
          <p:nvPicPr>
            <p:cNvPr id="5" name="Obrázek 4">
              <a:extLst>
                <a:ext uri="{FF2B5EF4-FFF2-40B4-BE49-F238E27FC236}">
                  <a16:creationId xmlns:a16="http://schemas.microsoft.com/office/drawing/2014/main" id="{D8485B36-F324-2DAE-79C1-F277F8584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2056" y="136525"/>
              <a:ext cx="2385230" cy="1875344"/>
            </a:xfrm>
            <a:prstGeom prst="rect">
              <a:avLst/>
            </a:prstGeom>
          </p:spPr>
        </p:pic>
        <p:pic>
          <p:nvPicPr>
            <p:cNvPr id="7" name="Obrázek 6">
              <a:extLst>
                <a:ext uri="{FF2B5EF4-FFF2-40B4-BE49-F238E27FC236}">
                  <a16:creationId xmlns:a16="http://schemas.microsoft.com/office/drawing/2014/main" id="{B4EAA797-CE37-C991-B431-FF51E92C9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7914" y="136525"/>
              <a:ext cx="2385230" cy="1905258"/>
            </a:xfrm>
            <a:prstGeom prst="rect">
              <a:avLst/>
            </a:prstGeom>
          </p:spPr>
        </p:pic>
        <p:pic>
          <p:nvPicPr>
            <p:cNvPr id="9" name="Obrázek 8">
              <a:extLst>
                <a:ext uri="{FF2B5EF4-FFF2-40B4-BE49-F238E27FC236}">
                  <a16:creationId xmlns:a16="http://schemas.microsoft.com/office/drawing/2014/main" id="{1500E8FF-6DF0-0919-115E-21D376465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2056" y="2354310"/>
              <a:ext cx="2385232" cy="1875344"/>
            </a:xfrm>
            <a:prstGeom prst="rect">
              <a:avLst/>
            </a:prstGeom>
          </p:spPr>
        </p:pic>
        <p:pic>
          <p:nvPicPr>
            <p:cNvPr id="11" name="Obrázek 10">
              <a:extLst>
                <a:ext uri="{FF2B5EF4-FFF2-40B4-BE49-F238E27FC236}">
                  <a16:creationId xmlns:a16="http://schemas.microsoft.com/office/drawing/2014/main" id="{C752D8C9-BA2B-EF6E-A95C-0906A33D0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7914" y="2352126"/>
              <a:ext cx="2385230" cy="1875344"/>
            </a:xfrm>
            <a:prstGeom prst="rect">
              <a:avLst/>
            </a:prstGeom>
          </p:spPr>
        </p:pic>
        <p:pic>
          <p:nvPicPr>
            <p:cNvPr id="13" name="Obrázek 12">
              <a:extLst>
                <a:ext uri="{FF2B5EF4-FFF2-40B4-BE49-F238E27FC236}">
                  <a16:creationId xmlns:a16="http://schemas.microsoft.com/office/drawing/2014/main" id="{E0EFD284-A908-7C7A-8A5C-8E1B35DE3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97913" y="4501348"/>
              <a:ext cx="2385232" cy="1875344"/>
            </a:xfrm>
            <a:prstGeom prst="rect">
              <a:avLst/>
            </a:prstGeom>
          </p:spPr>
        </p:pic>
      </p:grpSp>
      <p:sp>
        <p:nvSpPr>
          <p:cNvPr id="14" name="Zástupný symbol pro číslo snímku 13">
            <a:extLst>
              <a:ext uri="{FF2B5EF4-FFF2-40B4-BE49-F238E27FC236}">
                <a16:creationId xmlns:a16="http://schemas.microsoft.com/office/drawing/2014/main" id="{1B4C88A3-6B94-B6EA-1B99-CC7E7D69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102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AE1BEC-1F11-2A38-99AB-56F8028A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Dataset</a:t>
            </a:r>
            <a:r>
              <a:rPr lang="cs-CZ" dirty="0"/>
              <a:t> – proměnné</a:t>
            </a:r>
          </a:p>
        </p:txBody>
      </p:sp>
      <p:grpSp>
        <p:nvGrpSpPr>
          <p:cNvPr id="23" name="Skupina 22">
            <a:extLst>
              <a:ext uri="{FF2B5EF4-FFF2-40B4-BE49-F238E27FC236}">
                <a16:creationId xmlns:a16="http://schemas.microsoft.com/office/drawing/2014/main" id="{D158C5B1-05B1-7FEE-B53A-53BED239E4B6}"/>
              </a:ext>
            </a:extLst>
          </p:cNvPr>
          <p:cNvGrpSpPr/>
          <p:nvPr/>
        </p:nvGrpSpPr>
        <p:grpSpPr>
          <a:xfrm>
            <a:off x="7728856" y="496445"/>
            <a:ext cx="4368339" cy="5561578"/>
            <a:chOff x="7116741" y="138867"/>
            <a:chExt cx="4901739" cy="6240679"/>
          </a:xfrm>
        </p:grpSpPr>
        <p:pic>
          <p:nvPicPr>
            <p:cNvPr id="10" name="Obrázek 9">
              <a:extLst>
                <a:ext uri="{FF2B5EF4-FFF2-40B4-BE49-F238E27FC236}">
                  <a16:creationId xmlns:a16="http://schemas.microsoft.com/office/drawing/2014/main" id="{BB03AA32-555B-EEBD-4A42-C8126A8CB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6741" y="138867"/>
              <a:ext cx="2385556" cy="1875600"/>
            </a:xfrm>
            <a:prstGeom prst="rect">
              <a:avLst/>
            </a:prstGeom>
          </p:spPr>
        </p:pic>
        <p:pic>
          <p:nvPicPr>
            <p:cNvPr id="12" name="Obrázek 11">
              <a:extLst>
                <a:ext uri="{FF2B5EF4-FFF2-40B4-BE49-F238E27FC236}">
                  <a16:creationId xmlns:a16="http://schemas.microsoft.com/office/drawing/2014/main" id="{0255C427-5E41-1D13-1A1A-A32523BC8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2924" y="138867"/>
              <a:ext cx="2385556" cy="1875600"/>
            </a:xfrm>
            <a:prstGeom prst="rect">
              <a:avLst/>
            </a:prstGeom>
          </p:spPr>
        </p:pic>
        <p:pic>
          <p:nvPicPr>
            <p:cNvPr id="14" name="Obrázek 13">
              <a:extLst>
                <a:ext uri="{FF2B5EF4-FFF2-40B4-BE49-F238E27FC236}">
                  <a16:creationId xmlns:a16="http://schemas.microsoft.com/office/drawing/2014/main" id="{1BA8AA0B-F66A-1C47-29F3-F89A4D861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4196" y="2354724"/>
              <a:ext cx="2348101" cy="1875600"/>
            </a:xfrm>
            <a:prstGeom prst="rect">
              <a:avLst/>
            </a:prstGeom>
          </p:spPr>
        </p:pic>
        <p:pic>
          <p:nvPicPr>
            <p:cNvPr id="16" name="Obrázek 15">
              <a:extLst>
                <a:ext uri="{FF2B5EF4-FFF2-40B4-BE49-F238E27FC236}">
                  <a16:creationId xmlns:a16="http://schemas.microsoft.com/office/drawing/2014/main" id="{14BF2E17-0DA9-D8EE-4C38-152F864B4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2599" y="2354054"/>
              <a:ext cx="2385556" cy="1875600"/>
            </a:xfrm>
            <a:prstGeom prst="rect">
              <a:avLst/>
            </a:prstGeom>
          </p:spPr>
        </p:pic>
        <p:pic>
          <p:nvPicPr>
            <p:cNvPr id="20" name="Obrázek 19">
              <a:extLst>
                <a:ext uri="{FF2B5EF4-FFF2-40B4-BE49-F238E27FC236}">
                  <a16:creationId xmlns:a16="http://schemas.microsoft.com/office/drawing/2014/main" id="{53E53AFD-6BC8-445E-BC87-556EA3863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2599" y="4503946"/>
              <a:ext cx="2385556" cy="1875600"/>
            </a:xfrm>
            <a:prstGeom prst="rect">
              <a:avLst/>
            </a:prstGeom>
          </p:spPr>
        </p:pic>
        <p:pic>
          <p:nvPicPr>
            <p:cNvPr id="22" name="Obrázek 21">
              <a:extLst>
                <a:ext uri="{FF2B5EF4-FFF2-40B4-BE49-F238E27FC236}">
                  <a16:creationId xmlns:a16="http://schemas.microsoft.com/office/drawing/2014/main" id="{F8D597C6-6C31-7ABB-BC16-B718CE86A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4196" y="4503946"/>
              <a:ext cx="2385556" cy="1875600"/>
            </a:xfrm>
            <a:prstGeom prst="rect">
              <a:avLst/>
            </a:prstGeom>
          </p:spPr>
        </p:pic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9A9265-BBB1-3202-5252-7AF50610E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3686" cy="4351338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Stravovací návyky </a:t>
            </a:r>
          </a:p>
          <a:p>
            <a:pPr lvl="1"/>
            <a:r>
              <a:rPr lang="cs-CZ" dirty="0"/>
              <a:t>Nezdravé: 0, umírněné: 0.5, zdravé: 1</a:t>
            </a:r>
          </a:p>
          <a:p>
            <a:r>
              <a:rPr lang="cs-CZ" b="1" dirty="0"/>
              <a:t>Měl(a) jste někdy sebevražedné myšlenky? </a:t>
            </a:r>
          </a:p>
          <a:p>
            <a:pPr lvl="1"/>
            <a:r>
              <a:rPr lang="cs-CZ" dirty="0"/>
              <a:t>Ano: 1, Ne: 0</a:t>
            </a:r>
          </a:p>
          <a:p>
            <a:r>
              <a:rPr lang="cs-CZ" dirty="0"/>
              <a:t>Kolik hodin strávíte denně studiem/prací?</a:t>
            </a:r>
          </a:p>
          <a:p>
            <a:r>
              <a:rPr lang="cs-CZ" dirty="0"/>
              <a:t>„Finanční tlak“</a:t>
            </a:r>
          </a:p>
          <a:p>
            <a:pPr lvl="1"/>
            <a:r>
              <a:rPr lang="cs-CZ" dirty="0"/>
              <a:t>Číselná hodnota 1 (nejnižší) až 5 (nejvyšší)</a:t>
            </a:r>
          </a:p>
          <a:p>
            <a:r>
              <a:rPr lang="cs-CZ" dirty="0"/>
              <a:t>Máte v rodině historii duševních onemocnění?</a:t>
            </a:r>
          </a:p>
          <a:p>
            <a:pPr lvl="1"/>
            <a:r>
              <a:rPr lang="cs-CZ" dirty="0"/>
              <a:t>Ano: 1, Ne: 0</a:t>
            </a:r>
          </a:p>
          <a:p>
            <a:r>
              <a:rPr lang="cs-CZ" b="1" dirty="0"/>
              <a:t> Deprese</a:t>
            </a:r>
          </a:p>
          <a:p>
            <a:pPr lvl="1"/>
            <a:r>
              <a:rPr lang="cs-CZ" dirty="0"/>
              <a:t>Ano: 1, Ne: 0</a:t>
            </a:r>
          </a:p>
          <a:p>
            <a:endParaRPr lang="cs-CZ" dirty="0"/>
          </a:p>
        </p:txBody>
      </p:sp>
      <p:sp>
        <p:nvSpPr>
          <p:cNvPr id="24" name="Zástupný symbol pro číslo snímku 23">
            <a:extLst>
              <a:ext uri="{FF2B5EF4-FFF2-40B4-BE49-F238E27FC236}">
                <a16:creationId xmlns:a16="http://schemas.microsoft.com/office/drawing/2014/main" id="{B075EAEE-6E72-81B5-CC66-54D5CD90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76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631360-17D3-6CBF-A45F-F5482F29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Lineární korelace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45DB4D3-600B-677F-05AE-50E0248EA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292" y="1287775"/>
            <a:ext cx="7227416" cy="5570225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634A2DD-E499-2FB1-F5F9-FA683E28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0583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6F9920-3467-8E15-5051-0D844142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Neuronová síť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1F1DFB-88DD-57C9-F25F-C7C089E93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04118"/>
          </a:xfrm>
        </p:spPr>
        <p:txBody>
          <a:bodyPr>
            <a:normAutofit/>
          </a:bodyPr>
          <a:lstStyle/>
          <a:p>
            <a:r>
              <a:rPr lang="cs-CZ" dirty="0"/>
              <a:t>Matematický model, který převádí vstupní data na výstup pomocí sítě výpočetních jednotek</a:t>
            </a:r>
          </a:p>
          <a:p>
            <a:r>
              <a:rPr lang="cs-CZ" dirty="0"/>
              <a:t>Výpočetní jednotka = „umělý neuron“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CED3C29-3226-1D2A-C1D3-BD3FE0F8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6</a:t>
            </a:fld>
            <a:endParaRPr lang="cs-CZ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délník 4">
                <a:extLst>
                  <a:ext uri="{FF2B5EF4-FFF2-40B4-BE49-F238E27FC236}">
                    <a16:creationId xmlns:a16="http://schemas.microsoft.com/office/drawing/2014/main" id="{5C10C1AD-A54F-D7FC-BFB5-6AB63C53893A}"/>
                  </a:ext>
                </a:extLst>
              </p:cNvPr>
              <p:cNvSpPr/>
              <p:nvPr/>
            </p:nvSpPr>
            <p:spPr>
              <a:xfrm>
                <a:off x="3570514" y="4429580"/>
                <a:ext cx="2525486" cy="106679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2000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cs-CZ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s-CZ" sz="200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sz="2000" b="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cs-CZ" sz="2000" b="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cs-CZ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cs-CZ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cs-CZ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cs-CZ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cs-CZ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cs-CZ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cs-CZ" sz="20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cs-CZ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cs-CZ" dirty="0"/>
              </a:p>
            </p:txBody>
          </p:sp>
        </mc:Choice>
        <mc:Fallback>
          <p:sp>
            <p:nvSpPr>
              <p:cNvPr id="5" name="Obdélník 4">
                <a:extLst>
                  <a:ext uri="{FF2B5EF4-FFF2-40B4-BE49-F238E27FC236}">
                    <a16:creationId xmlns:a16="http://schemas.microsoft.com/office/drawing/2014/main" id="{5C10C1AD-A54F-D7FC-BFB5-6AB63C5389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514" y="4429580"/>
                <a:ext cx="2525486" cy="10667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délník 5">
                <a:extLst>
                  <a:ext uri="{FF2B5EF4-FFF2-40B4-BE49-F238E27FC236}">
                    <a16:creationId xmlns:a16="http://schemas.microsoft.com/office/drawing/2014/main" id="{C5F1D3FB-124A-76ED-4870-3A6DE272E32E}"/>
                  </a:ext>
                </a:extLst>
              </p:cNvPr>
              <p:cNvSpPr/>
              <p:nvPr/>
            </p:nvSpPr>
            <p:spPr>
              <a:xfrm>
                <a:off x="6096000" y="4429581"/>
                <a:ext cx="936170" cy="106679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cs-CZ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cs-CZ" sz="2000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cs-CZ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cs-CZ" sz="2000" dirty="0"/>
              </a:p>
            </p:txBody>
          </p:sp>
        </mc:Choice>
        <mc:Fallback>
          <p:sp>
            <p:nvSpPr>
              <p:cNvPr id="6" name="Obdélník 5">
                <a:extLst>
                  <a:ext uri="{FF2B5EF4-FFF2-40B4-BE49-F238E27FC236}">
                    <a16:creationId xmlns:a16="http://schemas.microsoft.com/office/drawing/2014/main" id="{C5F1D3FB-124A-76ED-4870-3A6DE272E3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429581"/>
                <a:ext cx="936170" cy="10667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Přímá spojnice se šipkou 7">
            <a:extLst>
              <a:ext uri="{FF2B5EF4-FFF2-40B4-BE49-F238E27FC236}">
                <a16:creationId xmlns:a16="http://schemas.microsoft.com/office/drawing/2014/main" id="{87EF4570-2D7A-3CB1-5D18-D52EFC626096}"/>
              </a:ext>
            </a:extLst>
          </p:cNvPr>
          <p:cNvCxnSpPr>
            <a:cxnSpLocks/>
          </p:cNvCxnSpPr>
          <p:nvPr/>
        </p:nvCxnSpPr>
        <p:spPr>
          <a:xfrm>
            <a:off x="1861457" y="3917497"/>
            <a:ext cx="1709057" cy="57694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Přímá spojnice se šipkou 11">
            <a:extLst>
              <a:ext uri="{FF2B5EF4-FFF2-40B4-BE49-F238E27FC236}">
                <a16:creationId xmlns:a16="http://schemas.microsoft.com/office/drawing/2014/main" id="{B4AA671D-63B4-95BD-0F56-3C09126A0804}"/>
              </a:ext>
            </a:extLst>
          </p:cNvPr>
          <p:cNvCxnSpPr>
            <a:cxnSpLocks/>
          </p:cNvCxnSpPr>
          <p:nvPr/>
        </p:nvCxnSpPr>
        <p:spPr>
          <a:xfrm>
            <a:off x="1861457" y="4930322"/>
            <a:ext cx="170905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Přímá spojnice se šipkou 13">
            <a:extLst>
              <a:ext uri="{FF2B5EF4-FFF2-40B4-BE49-F238E27FC236}">
                <a16:creationId xmlns:a16="http://schemas.microsoft.com/office/drawing/2014/main" id="{A201CC0F-60AB-7F4C-D8C3-C3BC01B1DF5C}"/>
              </a:ext>
            </a:extLst>
          </p:cNvPr>
          <p:cNvCxnSpPr/>
          <p:nvPr/>
        </p:nvCxnSpPr>
        <p:spPr>
          <a:xfrm flipV="1">
            <a:off x="1861457" y="5496379"/>
            <a:ext cx="1709057" cy="28302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Přímá spojnice se šipkou 16">
            <a:extLst>
              <a:ext uri="{FF2B5EF4-FFF2-40B4-BE49-F238E27FC236}">
                <a16:creationId xmlns:a16="http://schemas.microsoft.com/office/drawing/2014/main" id="{DD28E370-68CF-D8C5-34A3-66A648323DE9}"/>
              </a:ext>
            </a:extLst>
          </p:cNvPr>
          <p:cNvCxnSpPr>
            <a:cxnSpLocks/>
          </p:cNvCxnSpPr>
          <p:nvPr/>
        </p:nvCxnSpPr>
        <p:spPr>
          <a:xfrm>
            <a:off x="7032170" y="4952094"/>
            <a:ext cx="1055915" cy="1088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ovéPole 17">
                <a:extLst>
                  <a:ext uri="{FF2B5EF4-FFF2-40B4-BE49-F238E27FC236}">
                    <a16:creationId xmlns:a16="http://schemas.microsoft.com/office/drawing/2014/main" id="{CB5EBD3F-5E17-FE1D-39D4-824183FCB1CF}"/>
                  </a:ext>
                </a:extLst>
              </p:cNvPr>
              <p:cNvSpPr txBox="1"/>
              <p:nvPr/>
            </p:nvSpPr>
            <p:spPr>
              <a:xfrm>
                <a:off x="1407102" y="3636158"/>
                <a:ext cx="4850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cs-CZ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18" name="TextovéPole 17">
                <a:extLst>
                  <a:ext uri="{FF2B5EF4-FFF2-40B4-BE49-F238E27FC236}">
                    <a16:creationId xmlns:a16="http://schemas.microsoft.com/office/drawing/2014/main" id="{CB5EBD3F-5E17-FE1D-39D4-824183FCB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102" y="3636158"/>
                <a:ext cx="48500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ovéPole 18">
                <a:extLst>
                  <a:ext uri="{FF2B5EF4-FFF2-40B4-BE49-F238E27FC236}">
                    <a16:creationId xmlns:a16="http://schemas.microsoft.com/office/drawing/2014/main" id="{47F49930-B6D5-456F-D621-00C0A5B7F7CE}"/>
                  </a:ext>
                </a:extLst>
              </p:cNvPr>
              <p:cNvSpPr txBox="1"/>
              <p:nvPr/>
            </p:nvSpPr>
            <p:spPr>
              <a:xfrm>
                <a:off x="1407102" y="4681578"/>
                <a:ext cx="4909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cs-CZ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19" name="TextovéPole 18">
                <a:extLst>
                  <a:ext uri="{FF2B5EF4-FFF2-40B4-BE49-F238E27FC236}">
                    <a16:creationId xmlns:a16="http://schemas.microsoft.com/office/drawing/2014/main" id="{47F49930-B6D5-456F-D621-00C0A5B7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102" y="4681578"/>
                <a:ext cx="49096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ovéPole 19">
                <a:extLst>
                  <a:ext uri="{FF2B5EF4-FFF2-40B4-BE49-F238E27FC236}">
                    <a16:creationId xmlns:a16="http://schemas.microsoft.com/office/drawing/2014/main" id="{C20F331A-E78D-38E6-23A9-B78EC2B7A133}"/>
                  </a:ext>
                </a:extLst>
              </p:cNvPr>
              <p:cNvSpPr txBox="1"/>
              <p:nvPr/>
            </p:nvSpPr>
            <p:spPr>
              <a:xfrm>
                <a:off x="1407102" y="5594742"/>
                <a:ext cx="4909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cs-CZ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0" name="TextovéPole 19">
                <a:extLst>
                  <a:ext uri="{FF2B5EF4-FFF2-40B4-BE49-F238E27FC236}">
                    <a16:creationId xmlns:a16="http://schemas.microsoft.com/office/drawing/2014/main" id="{C20F331A-E78D-38E6-23A9-B78EC2B7A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102" y="5594742"/>
                <a:ext cx="49096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ovéPole 20">
                <a:extLst>
                  <a:ext uri="{FF2B5EF4-FFF2-40B4-BE49-F238E27FC236}">
                    <a16:creationId xmlns:a16="http://schemas.microsoft.com/office/drawing/2014/main" id="{B1740211-220E-1695-F4D3-A307F25C5467}"/>
                  </a:ext>
                </a:extLst>
              </p:cNvPr>
              <p:cNvSpPr txBox="1"/>
              <p:nvPr/>
            </p:nvSpPr>
            <p:spPr>
              <a:xfrm>
                <a:off x="2571873" y="3784244"/>
                <a:ext cx="5318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cs-CZ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1" name="TextovéPole 20">
                <a:extLst>
                  <a:ext uri="{FF2B5EF4-FFF2-40B4-BE49-F238E27FC236}">
                    <a16:creationId xmlns:a16="http://schemas.microsoft.com/office/drawing/2014/main" id="{B1740211-220E-1695-F4D3-A307F25C5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73" y="3784244"/>
                <a:ext cx="531877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ovéPole 21">
                <a:extLst>
                  <a:ext uri="{FF2B5EF4-FFF2-40B4-BE49-F238E27FC236}">
                    <a16:creationId xmlns:a16="http://schemas.microsoft.com/office/drawing/2014/main" id="{7BFF221D-C93E-05AE-F329-EED9FDA4F23B}"/>
                  </a:ext>
                </a:extLst>
              </p:cNvPr>
              <p:cNvSpPr txBox="1"/>
              <p:nvPr/>
            </p:nvSpPr>
            <p:spPr>
              <a:xfrm>
                <a:off x="2450046" y="4481523"/>
                <a:ext cx="5378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cs-CZ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2" name="TextovéPole 21">
                <a:extLst>
                  <a:ext uri="{FF2B5EF4-FFF2-40B4-BE49-F238E27FC236}">
                    <a16:creationId xmlns:a16="http://schemas.microsoft.com/office/drawing/2014/main" id="{7BFF221D-C93E-05AE-F329-EED9FDA4F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046" y="4481523"/>
                <a:ext cx="5378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ovéPole 22">
                <a:extLst>
                  <a:ext uri="{FF2B5EF4-FFF2-40B4-BE49-F238E27FC236}">
                    <a16:creationId xmlns:a16="http://schemas.microsoft.com/office/drawing/2014/main" id="{CA23319F-3D97-475A-1B0A-0B0A9DCB17C2}"/>
                  </a:ext>
                </a:extLst>
              </p:cNvPr>
              <p:cNvSpPr txBox="1"/>
              <p:nvPr/>
            </p:nvSpPr>
            <p:spPr>
              <a:xfrm>
                <a:off x="4118077" y="5956240"/>
                <a:ext cx="4869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sz="2000" b="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sz="2000" b="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cs-CZ" sz="2000" b="0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3" name="TextovéPole 22">
                <a:extLst>
                  <a:ext uri="{FF2B5EF4-FFF2-40B4-BE49-F238E27FC236}">
                    <a16:creationId xmlns:a16="http://schemas.microsoft.com/office/drawing/2014/main" id="{CA23319F-3D97-475A-1B0A-0B0A9DCB1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077" y="5956240"/>
                <a:ext cx="48692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ovéPole 23">
                <a:extLst>
                  <a:ext uri="{FF2B5EF4-FFF2-40B4-BE49-F238E27FC236}">
                    <a16:creationId xmlns:a16="http://schemas.microsoft.com/office/drawing/2014/main" id="{D2EBEE7E-89C8-8494-2002-392D19FBB944}"/>
                  </a:ext>
                </a:extLst>
              </p:cNvPr>
              <p:cNvSpPr txBox="1"/>
              <p:nvPr/>
            </p:nvSpPr>
            <p:spPr>
              <a:xfrm>
                <a:off x="8088085" y="4752039"/>
                <a:ext cx="7571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200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cs-CZ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cs-CZ" sz="200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cs-CZ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cs-CZ" sz="2000" dirty="0"/>
              </a:p>
            </p:txBody>
          </p:sp>
        </mc:Choice>
        <mc:Fallback xmlns="">
          <p:sp>
            <p:nvSpPr>
              <p:cNvPr id="24" name="TextovéPole 23">
                <a:extLst>
                  <a:ext uri="{FF2B5EF4-FFF2-40B4-BE49-F238E27FC236}">
                    <a16:creationId xmlns:a16="http://schemas.microsoft.com/office/drawing/2014/main" id="{D2EBEE7E-89C8-8494-2002-392D19FBB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85" y="4752039"/>
                <a:ext cx="757195" cy="400110"/>
              </a:xfrm>
              <a:prstGeom prst="rect">
                <a:avLst/>
              </a:prstGeom>
              <a:blipFill>
                <a:blip r:embed="rId10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Přímá spojnice se šipkou 26">
            <a:extLst>
              <a:ext uri="{FF2B5EF4-FFF2-40B4-BE49-F238E27FC236}">
                <a16:creationId xmlns:a16="http://schemas.microsoft.com/office/drawing/2014/main" id="{2715EC8E-D8AB-9830-3259-F69FC8CFE40E}"/>
              </a:ext>
            </a:extLst>
          </p:cNvPr>
          <p:cNvCxnSpPr>
            <a:cxnSpLocks/>
          </p:cNvCxnSpPr>
          <p:nvPr/>
        </p:nvCxnSpPr>
        <p:spPr>
          <a:xfrm flipV="1">
            <a:off x="4361541" y="5531531"/>
            <a:ext cx="264886" cy="49575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ovéPole 28">
                <a:extLst>
                  <a:ext uri="{FF2B5EF4-FFF2-40B4-BE49-F238E27FC236}">
                    <a16:creationId xmlns:a16="http://schemas.microsoft.com/office/drawing/2014/main" id="{613726CA-CFDF-02D5-4106-94404F185CCE}"/>
                  </a:ext>
                </a:extLst>
              </p:cNvPr>
              <p:cNvSpPr txBox="1"/>
              <p:nvPr/>
            </p:nvSpPr>
            <p:spPr>
              <a:xfrm>
                <a:off x="2718966" y="5637893"/>
                <a:ext cx="5378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cs-CZ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29" name="TextovéPole 28">
                <a:extLst>
                  <a:ext uri="{FF2B5EF4-FFF2-40B4-BE49-F238E27FC236}">
                    <a16:creationId xmlns:a16="http://schemas.microsoft.com/office/drawing/2014/main" id="{613726CA-CFDF-02D5-4106-94404F185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966" y="5637893"/>
                <a:ext cx="53784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ovéPole 29">
                <a:extLst>
                  <a:ext uri="{FF2B5EF4-FFF2-40B4-BE49-F238E27FC236}">
                    <a16:creationId xmlns:a16="http://schemas.microsoft.com/office/drawing/2014/main" id="{7DFA4B5C-9447-F1EC-F953-9DFD43CE1810}"/>
                  </a:ext>
                </a:extLst>
              </p:cNvPr>
              <p:cNvSpPr txBox="1"/>
              <p:nvPr/>
            </p:nvSpPr>
            <p:spPr>
              <a:xfrm>
                <a:off x="9288442" y="4151874"/>
                <a:ext cx="225600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vstup</m:t>
                      </m:r>
                    </m:oMath>
                  </m:oMathPara>
                </a14:m>
                <a:endParaRPr lang="cs-CZ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cs-CZ" b="0" i="0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hy</m:t>
                      </m:r>
                    </m:oMath>
                  </m:oMathPara>
                </a14:m>
                <a:endParaRPr lang="cs-CZ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bias</m:t>
                      </m:r>
                    </m:oMath>
                  </m:oMathPara>
                </a14:m>
                <a:endParaRPr lang="cs-CZ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aktiva</m:t>
                      </m:r>
                      <m:r>
                        <a:rPr lang="cs-CZ" b="0" i="0" smtClean="0">
                          <a:latin typeface="Cambria Math" panose="02040503050406030204" pitchFamily="18" charset="0"/>
                        </a:rPr>
                        <m:t>č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cs-CZ" b="0" i="0" smtClean="0">
                          <a:latin typeface="Cambria Math" panose="02040503050406030204" pitchFamily="18" charset="0"/>
                        </a:rPr>
                        <m:t>í 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funkce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 xmlns="">
          <p:sp>
            <p:nvSpPr>
              <p:cNvPr id="30" name="TextovéPole 29">
                <a:extLst>
                  <a:ext uri="{FF2B5EF4-FFF2-40B4-BE49-F238E27FC236}">
                    <a16:creationId xmlns:a16="http://schemas.microsoft.com/office/drawing/2014/main" id="{7DFA4B5C-9447-F1EC-F953-9DFD43CE1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8442" y="4151874"/>
                <a:ext cx="2256002" cy="1200329"/>
              </a:xfrm>
              <a:prstGeom prst="rect">
                <a:avLst/>
              </a:prstGeom>
              <a:blipFill>
                <a:blip r:embed="rId12"/>
                <a:stretch>
                  <a:fillRect l="-811" b="-3046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33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03C731-78A1-3737-D59D-5CFF1E0E7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Neuronová síť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C236F1-9CDD-EEFC-900E-328E537DE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Uspořádání neuronů do vrstev – vstupní, skryté a výstupní</a:t>
            </a:r>
          </a:p>
          <a:p>
            <a:r>
              <a:rPr lang="cs-CZ" dirty="0"/>
              <a:t>Schopná popisovat nelineární závislost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622A0CD-A31E-1AAA-F2DA-0A1E14E8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7</a:t>
            </a:fld>
            <a:endParaRPr lang="cs-CZ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5CD4E5A-495E-17D2-DF2F-73E48EE56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058" y="3117163"/>
            <a:ext cx="2462209" cy="296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D2394036-6230-FF03-CCBA-7BEDB4679B78}"/>
              </a:ext>
            </a:extLst>
          </p:cNvPr>
          <p:cNvSpPr txBox="1">
            <a:spLocks/>
          </p:cNvSpPr>
          <p:nvPr/>
        </p:nvSpPr>
        <p:spPr>
          <a:xfrm>
            <a:off x="125186" y="6492875"/>
            <a:ext cx="11070772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1600" dirty="0"/>
              <a:t>[1] https://medium.com/@sarita_68521/basic-understanding-of-neural-network-structure-eecc8f149a23</a:t>
            </a: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7DAF4A3D-8928-7929-9F0B-46062FCA9AEC}"/>
              </a:ext>
            </a:extLst>
          </p:cNvPr>
          <p:cNvSpPr txBox="1">
            <a:spLocks/>
          </p:cNvSpPr>
          <p:nvPr/>
        </p:nvSpPr>
        <p:spPr>
          <a:xfrm>
            <a:off x="6833430" y="5565661"/>
            <a:ext cx="555172" cy="2968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1600" dirty="0"/>
              <a:t>[1]</a:t>
            </a:r>
          </a:p>
        </p:txBody>
      </p:sp>
      <p:cxnSp>
        <p:nvCxnSpPr>
          <p:cNvPr id="9" name="Přímá spojnice se šipkou 8">
            <a:extLst>
              <a:ext uri="{FF2B5EF4-FFF2-40B4-BE49-F238E27FC236}">
                <a16:creationId xmlns:a16="http://schemas.microsoft.com/office/drawing/2014/main" id="{47DE5B3E-2542-13AF-C331-01523D1DB519}"/>
              </a:ext>
            </a:extLst>
          </p:cNvPr>
          <p:cNvCxnSpPr>
            <a:cxnSpLocks/>
          </p:cNvCxnSpPr>
          <p:nvPr/>
        </p:nvCxnSpPr>
        <p:spPr>
          <a:xfrm>
            <a:off x="7388602" y="4598190"/>
            <a:ext cx="17961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Přímá spojnice se šipkou 10">
            <a:extLst>
              <a:ext uri="{FF2B5EF4-FFF2-40B4-BE49-F238E27FC236}">
                <a16:creationId xmlns:a16="http://schemas.microsoft.com/office/drawing/2014/main" id="{5C62791E-D458-60AA-DA6F-31028013BAA3}"/>
              </a:ext>
            </a:extLst>
          </p:cNvPr>
          <p:cNvCxnSpPr>
            <a:cxnSpLocks/>
          </p:cNvCxnSpPr>
          <p:nvPr/>
        </p:nvCxnSpPr>
        <p:spPr>
          <a:xfrm>
            <a:off x="2575794" y="4555100"/>
            <a:ext cx="17961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ovéPole 11">
                <a:extLst>
                  <a:ext uri="{FF2B5EF4-FFF2-40B4-BE49-F238E27FC236}">
                    <a16:creationId xmlns:a16="http://schemas.microsoft.com/office/drawing/2014/main" id="{DF071947-730F-3A95-A8BA-1184F7DB5069}"/>
                  </a:ext>
                </a:extLst>
              </p:cNvPr>
              <p:cNvSpPr txBox="1"/>
              <p:nvPr/>
            </p:nvSpPr>
            <p:spPr>
              <a:xfrm>
                <a:off x="8904992" y="4316679"/>
                <a:ext cx="2017347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cs-CZ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cs-CZ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cs-CZ" sz="3200" b="0" dirty="0"/>
              </a:p>
              <a:p>
                <a:r>
                  <a:rPr lang="cs-CZ" sz="2000" dirty="0"/>
                  <a:t>Výsledná predikce</a:t>
                </a:r>
              </a:p>
            </p:txBody>
          </p:sp>
        </mc:Choice>
        <mc:Fallback xmlns="">
          <p:sp>
            <p:nvSpPr>
              <p:cNvPr id="12" name="TextovéPole 11">
                <a:extLst>
                  <a:ext uri="{FF2B5EF4-FFF2-40B4-BE49-F238E27FC236}">
                    <a16:creationId xmlns:a16="http://schemas.microsoft.com/office/drawing/2014/main" id="{DF071947-730F-3A95-A8BA-1184F7DB5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992" y="4316679"/>
                <a:ext cx="2017347" cy="800219"/>
              </a:xfrm>
              <a:prstGeom prst="rect">
                <a:avLst/>
              </a:prstGeom>
              <a:blipFill>
                <a:blip r:embed="rId3"/>
                <a:stretch>
                  <a:fillRect l="-7855" r="-6949" b="-19084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ovéPole 12">
                <a:extLst>
                  <a:ext uri="{FF2B5EF4-FFF2-40B4-BE49-F238E27FC236}">
                    <a16:creationId xmlns:a16="http://schemas.microsoft.com/office/drawing/2014/main" id="{37C849C9-85B0-02C1-B696-CF2D8BA4F737}"/>
                  </a:ext>
                </a:extLst>
              </p:cNvPr>
              <p:cNvSpPr txBox="1"/>
              <p:nvPr/>
            </p:nvSpPr>
            <p:spPr>
              <a:xfrm>
                <a:off x="838200" y="4308877"/>
                <a:ext cx="2348724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cs-CZ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cs-CZ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cs-CZ" sz="3200" dirty="0"/>
              </a:p>
              <a:p>
                <a:pPr algn="ctr"/>
                <a:r>
                  <a:rPr lang="cs-CZ" sz="2000" dirty="0"/>
                  <a:t>Vektor vstupních proměnných</a:t>
                </a:r>
              </a:p>
            </p:txBody>
          </p:sp>
        </mc:Choice>
        <mc:Fallback xmlns="">
          <p:sp>
            <p:nvSpPr>
              <p:cNvPr id="13" name="TextovéPole 12">
                <a:extLst>
                  <a:ext uri="{FF2B5EF4-FFF2-40B4-BE49-F238E27FC236}">
                    <a16:creationId xmlns:a16="http://schemas.microsoft.com/office/drawing/2014/main" id="{37C849C9-85B0-02C1-B696-CF2D8BA4F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08877"/>
                <a:ext cx="2348724" cy="1107996"/>
              </a:xfrm>
              <a:prstGeom prst="rect">
                <a:avLst/>
              </a:prstGeom>
              <a:blipFill>
                <a:blip r:embed="rId4"/>
                <a:stretch>
                  <a:fillRect b="-12637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97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737ABE-54CB-ACFF-22D5-D5C8C24C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Trénování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E6F9728F-C5D8-4AAD-D899-6F077F05A4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784771" cy="4063546"/>
              </a:xfrm>
            </p:spPr>
            <p:txBody>
              <a:bodyPr>
                <a:normAutofit/>
              </a:bodyPr>
              <a:lstStyle/>
              <a:p>
                <a:r>
                  <a:rPr lang="cs-CZ" dirty="0"/>
                  <a:t>Optimalizace vah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cs-CZ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cs-CZ" dirty="0"/>
                  <a:t>) a „</a:t>
                </a:r>
                <a:r>
                  <a:rPr lang="cs-CZ" dirty="0" err="1"/>
                  <a:t>biasů</a:t>
                </a:r>
                <a:r>
                  <a:rPr lang="cs-CZ" dirty="0"/>
                  <a:t>“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cs-CZ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cs-CZ" dirty="0"/>
                  <a:t>)</a:t>
                </a:r>
              </a:p>
              <a:p>
                <a:r>
                  <a:rPr lang="cs-CZ" dirty="0" err="1"/>
                  <a:t>Backpropagation</a:t>
                </a:r>
                <a:r>
                  <a:rPr lang="cs-CZ" dirty="0"/>
                  <a:t> algoritmus (zpětná propagace chyby)</a:t>
                </a:r>
              </a:p>
              <a:p>
                <a:pPr lvl="1"/>
                <a:r>
                  <a:rPr lang="cs-CZ" dirty="0"/>
                  <a:t>Iterační optimalizace</a:t>
                </a:r>
              </a:p>
              <a:p>
                <a:pPr lvl="1"/>
                <a:r>
                  <a:rPr lang="cs-CZ" dirty="0"/>
                  <a:t>Chyba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cs-CZ" dirty="0">
                        <a:latin typeface="Cambria Math" panose="02040503050406030204" pitchFamily="18" charset="0"/>
                      </a:rPr>
                      <m:t>E</m:t>
                    </m:r>
                    <m:r>
                      <a:rPr lang="cs-CZ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cs-CZ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cs-CZ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cs-CZ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cs-CZ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cs-CZ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cs-CZ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cs-CZ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cs-CZ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cs-CZ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cs-CZ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cs-CZ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cs-CZ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cs-CZ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cs-CZ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cs-CZ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cs-CZ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cs-CZ" b="0" i="1" smtClean="0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cs-CZ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cs-CZ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cs-CZ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cs-CZ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cs-CZ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den>
                    </m:f>
                  </m:oMath>
                </a14:m>
                <a:endParaRPr lang="cs-CZ" dirty="0"/>
              </a:p>
              <a:p>
                <a:pPr lvl="1"/>
                <a:r>
                  <a:rPr lang="cs-CZ" dirty="0"/>
                  <a:t>Vnitřní vrstvy – řetízkové pravidlo</a:t>
                </a:r>
              </a:p>
              <a:p>
                <a:pPr lvl="1"/>
                <a:r>
                  <a:rPr lang="cs-CZ" dirty="0"/>
                  <a:t>Hledání optimální hodnoty </a:t>
                </a: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cs-CZ" dirty="0"/>
                  <a:t> – optimalizace </a:t>
                </a:r>
                <a:r>
                  <a:rPr lang="cs-CZ" dirty="0" err="1"/>
                  <a:t>hyperparametru</a:t>
                </a:r>
                <a:endParaRPr lang="cs-CZ" dirty="0"/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E6F9728F-C5D8-4AAD-D899-6F077F05A4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784771" cy="4063546"/>
              </a:xfrm>
              <a:blipFill>
                <a:blip r:embed="rId2"/>
                <a:stretch>
                  <a:fillRect l="-1249" t="-2549" r="-763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551D694-802C-CDE7-F78F-7C6496E2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8</a:t>
            </a:fld>
            <a:endParaRPr lang="cs-CZ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ovéPole 4">
                <a:extLst>
                  <a:ext uri="{FF2B5EF4-FFF2-40B4-BE49-F238E27FC236}">
                    <a16:creationId xmlns:a16="http://schemas.microsoft.com/office/drawing/2014/main" id="{01E7EE98-1D36-24C8-6C1B-C894B1871EFF}"/>
                  </a:ext>
                </a:extLst>
              </p:cNvPr>
              <p:cNvSpPr txBox="1"/>
              <p:nvPr/>
            </p:nvSpPr>
            <p:spPr>
              <a:xfrm>
                <a:off x="7974676" y="3349566"/>
                <a:ext cx="2721322" cy="10156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2400" i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m:rPr>
                          <m:nor/>
                        </m:rPr>
                        <a:rPr lang="cs-CZ" sz="2400" dirty="0"/>
                        <m:t>… „</m:t>
                      </m:r>
                      <m:r>
                        <m:rPr>
                          <m:nor/>
                        </m:rPr>
                        <a:rPr lang="cs-CZ" sz="2400" dirty="0" err="1"/>
                        <m:t>Loss</m:t>
                      </m:r>
                      <m:r>
                        <m:rPr>
                          <m:nor/>
                        </m:rPr>
                        <a:rPr lang="cs-CZ" sz="2400" dirty="0"/>
                        <m:t> </m:t>
                      </m:r>
                      <m:r>
                        <m:rPr>
                          <m:nor/>
                        </m:rPr>
                        <a:rPr lang="cs-CZ" sz="2400" dirty="0" err="1"/>
                        <m:t>function</m:t>
                      </m:r>
                      <m:r>
                        <m:rPr>
                          <m:nor/>
                        </m:rPr>
                        <a:rPr lang="cs-CZ" sz="2400" dirty="0"/>
                        <m:t>“</m:t>
                      </m:r>
                    </m:oMath>
                  </m:oMathPara>
                </a14:m>
                <a:endParaRPr lang="cs-CZ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cs-CZ" sz="2400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cs-CZ" sz="2400" dirty="0"/>
                  <a:t>… „Learning </a:t>
                </a:r>
                <a:r>
                  <a:rPr lang="cs-CZ" sz="2400" dirty="0" err="1"/>
                  <a:t>rate</a:t>
                </a:r>
                <a:r>
                  <a:rPr lang="cs-CZ" sz="2400" dirty="0"/>
                  <a:t>“</a:t>
                </a:r>
              </a:p>
              <a:p>
                <a:pPr algn="ctr"/>
                <a:endParaRPr lang="cs-CZ" dirty="0"/>
              </a:p>
            </p:txBody>
          </p:sp>
        </mc:Choice>
        <mc:Fallback>
          <p:sp>
            <p:nvSpPr>
              <p:cNvPr id="5" name="TextovéPole 4">
                <a:extLst>
                  <a:ext uri="{FF2B5EF4-FFF2-40B4-BE49-F238E27FC236}">
                    <a16:creationId xmlns:a16="http://schemas.microsoft.com/office/drawing/2014/main" id="{01E7EE98-1D36-24C8-6C1B-C894B1871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676" y="3349566"/>
                <a:ext cx="2721322" cy="1015663"/>
              </a:xfrm>
              <a:prstGeom prst="rect">
                <a:avLst/>
              </a:prstGeom>
              <a:blipFill>
                <a:blip r:embed="rId3"/>
                <a:stretch>
                  <a:fillRect l="-671" r="-1119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498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9D0A05-16C4-7C8A-3EAE-DC25DCF37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Návrh sítě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146FF3-EA94-1465-0657-A2EA7B446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2097768"/>
            <a:ext cx="1959429" cy="950232"/>
          </a:xfrm>
        </p:spPr>
        <p:txBody>
          <a:bodyPr/>
          <a:lstStyle/>
          <a:p>
            <a:pPr marL="0" indent="0" algn="ctr">
              <a:buNone/>
            </a:pPr>
            <a:r>
              <a:rPr lang="cs-CZ" dirty="0"/>
              <a:t>9 datových vstupů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6373489-554B-813A-8F7F-65E10D63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9</a:t>
            </a:fld>
            <a:endParaRPr lang="cs-CZ"/>
          </a:p>
        </p:txBody>
      </p:sp>
      <p:grpSp>
        <p:nvGrpSpPr>
          <p:cNvPr id="14" name="Skupina 13">
            <a:extLst>
              <a:ext uri="{FF2B5EF4-FFF2-40B4-BE49-F238E27FC236}">
                <a16:creationId xmlns:a16="http://schemas.microsoft.com/office/drawing/2014/main" id="{2A318888-FDA3-7ED4-9AFB-9256B5DD7246}"/>
              </a:ext>
            </a:extLst>
          </p:cNvPr>
          <p:cNvGrpSpPr/>
          <p:nvPr/>
        </p:nvGrpSpPr>
        <p:grpSpPr>
          <a:xfrm>
            <a:off x="4283530" y="1598613"/>
            <a:ext cx="359230" cy="1561420"/>
            <a:chOff x="3886198" y="1511073"/>
            <a:chExt cx="359230" cy="1561420"/>
          </a:xfrm>
        </p:grpSpPr>
        <p:sp>
          <p:nvSpPr>
            <p:cNvPr id="5" name="Ovál 4">
              <a:extLst>
                <a:ext uri="{FF2B5EF4-FFF2-40B4-BE49-F238E27FC236}">
                  <a16:creationId xmlns:a16="http://schemas.microsoft.com/office/drawing/2014/main" id="{C8AB270D-85C9-EFA8-27B0-DBE2DD7E4D26}"/>
                </a:ext>
              </a:extLst>
            </p:cNvPr>
            <p:cNvSpPr/>
            <p:nvPr/>
          </p:nvSpPr>
          <p:spPr>
            <a:xfrm>
              <a:off x="3886199" y="1511073"/>
              <a:ext cx="359229" cy="35922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6" name="Ovál 5">
              <a:extLst>
                <a:ext uri="{FF2B5EF4-FFF2-40B4-BE49-F238E27FC236}">
                  <a16:creationId xmlns:a16="http://schemas.microsoft.com/office/drawing/2014/main" id="{3AA438CB-B517-7249-6E08-ADA9BB5A7D3F}"/>
                </a:ext>
              </a:extLst>
            </p:cNvPr>
            <p:cNvSpPr/>
            <p:nvPr/>
          </p:nvSpPr>
          <p:spPr>
            <a:xfrm>
              <a:off x="3886198" y="1911804"/>
              <a:ext cx="359229" cy="35922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" name="Ovál 6">
              <a:extLst>
                <a:ext uri="{FF2B5EF4-FFF2-40B4-BE49-F238E27FC236}">
                  <a16:creationId xmlns:a16="http://schemas.microsoft.com/office/drawing/2014/main" id="{15FEC571-AB0E-F819-FC78-7D90E4B42914}"/>
                </a:ext>
              </a:extLst>
            </p:cNvPr>
            <p:cNvSpPr/>
            <p:nvPr/>
          </p:nvSpPr>
          <p:spPr>
            <a:xfrm>
              <a:off x="3886198" y="2312534"/>
              <a:ext cx="359229" cy="35922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8" name="Ovál 7">
              <a:extLst>
                <a:ext uri="{FF2B5EF4-FFF2-40B4-BE49-F238E27FC236}">
                  <a16:creationId xmlns:a16="http://schemas.microsoft.com/office/drawing/2014/main" id="{610208FC-C512-B0F4-5B49-13029ABAB9E3}"/>
                </a:ext>
              </a:extLst>
            </p:cNvPr>
            <p:cNvSpPr/>
            <p:nvPr/>
          </p:nvSpPr>
          <p:spPr>
            <a:xfrm>
              <a:off x="3886198" y="2713264"/>
              <a:ext cx="359229" cy="35922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15" name="Skupina 14">
            <a:extLst>
              <a:ext uri="{FF2B5EF4-FFF2-40B4-BE49-F238E27FC236}">
                <a16:creationId xmlns:a16="http://schemas.microsoft.com/office/drawing/2014/main" id="{085DE82C-F90A-2E34-0FFD-BC567A06B0FB}"/>
              </a:ext>
            </a:extLst>
          </p:cNvPr>
          <p:cNvGrpSpPr/>
          <p:nvPr/>
        </p:nvGrpSpPr>
        <p:grpSpPr>
          <a:xfrm>
            <a:off x="7440385" y="1813151"/>
            <a:ext cx="359230" cy="1173845"/>
            <a:chOff x="4474027" y="1690687"/>
            <a:chExt cx="359230" cy="1173845"/>
          </a:xfrm>
        </p:grpSpPr>
        <p:sp>
          <p:nvSpPr>
            <p:cNvPr id="10" name="Ovál 9">
              <a:extLst>
                <a:ext uri="{FF2B5EF4-FFF2-40B4-BE49-F238E27FC236}">
                  <a16:creationId xmlns:a16="http://schemas.microsoft.com/office/drawing/2014/main" id="{12469D86-1C7D-8450-B15B-A55514CD51E6}"/>
                </a:ext>
              </a:extLst>
            </p:cNvPr>
            <p:cNvSpPr/>
            <p:nvPr/>
          </p:nvSpPr>
          <p:spPr>
            <a:xfrm>
              <a:off x="4474028" y="1690687"/>
              <a:ext cx="359229" cy="3592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1" name="Ovál 10">
              <a:extLst>
                <a:ext uri="{FF2B5EF4-FFF2-40B4-BE49-F238E27FC236}">
                  <a16:creationId xmlns:a16="http://schemas.microsoft.com/office/drawing/2014/main" id="{F682FA32-EF75-5FED-0912-BB01BE2E0F4F}"/>
                </a:ext>
              </a:extLst>
            </p:cNvPr>
            <p:cNvSpPr/>
            <p:nvPr/>
          </p:nvSpPr>
          <p:spPr>
            <a:xfrm>
              <a:off x="4474028" y="2097768"/>
              <a:ext cx="359229" cy="3592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2" name="Ovál 11">
              <a:extLst>
                <a:ext uri="{FF2B5EF4-FFF2-40B4-BE49-F238E27FC236}">
                  <a16:creationId xmlns:a16="http://schemas.microsoft.com/office/drawing/2014/main" id="{DB1C7C50-0AD7-BF32-322B-16052A6B5600}"/>
                </a:ext>
              </a:extLst>
            </p:cNvPr>
            <p:cNvSpPr/>
            <p:nvPr/>
          </p:nvSpPr>
          <p:spPr>
            <a:xfrm>
              <a:off x="4474027" y="2505303"/>
              <a:ext cx="359229" cy="35922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8374CA07-8F13-41D0-3D4F-1A7A59A2A7DE}"/>
              </a:ext>
            </a:extLst>
          </p:cNvPr>
          <p:cNvSpPr txBox="1">
            <a:spLocks/>
          </p:cNvSpPr>
          <p:nvPr/>
        </p:nvSpPr>
        <p:spPr>
          <a:xfrm>
            <a:off x="9688286" y="2209801"/>
            <a:ext cx="1959429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cs-CZ" dirty="0"/>
              <a:t>2 výstupy </a:t>
            </a:r>
          </a:p>
        </p:txBody>
      </p:sp>
      <p:cxnSp>
        <p:nvCxnSpPr>
          <p:cNvPr id="39" name="Přímá spojnice se šipkou 38">
            <a:extLst>
              <a:ext uri="{FF2B5EF4-FFF2-40B4-BE49-F238E27FC236}">
                <a16:creationId xmlns:a16="http://schemas.microsoft.com/office/drawing/2014/main" id="{8CEC78B8-5643-073F-179C-584225B67CFC}"/>
              </a:ext>
            </a:extLst>
          </p:cNvPr>
          <p:cNvCxnSpPr/>
          <p:nvPr/>
        </p:nvCxnSpPr>
        <p:spPr>
          <a:xfrm flipV="1">
            <a:off x="2394858" y="1813151"/>
            <a:ext cx="1811382" cy="35922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Přímá spojnice se šipkou 40">
            <a:extLst>
              <a:ext uri="{FF2B5EF4-FFF2-40B4-BE49-F238E27FC236}">
                <a16:creationId xmlns:a16="http://schemas.microsoft.com/office/drawing/2014/main" id="{38408BA4-2ADF-F46D-23B3-05A7C1706223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394858" y="1823244"/>
            <a:ext cx="1811382" cy="74964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Přímá spojnice se šipkou 43">
            <a:extLst>
              <a:ext uri="{FF2B5EF4-FFF2-40B4-BE49-F238E27FC236}">
                <a16:creationId xmlns:a16="http://schemas.microsoft.com/office/drawing/2014/main" id="{4991768E-8696-29AB-13BB-5FB6EC0A124D}"/>
              </a:ext>
            </a:extLst>
          </p:cNvPr>
          <p:cNvCxnSpPr>
            <a:cxnSpLocks/>
          </p:cNvCxnSpPr>
          <p:nvPr/>
        </p:nvCxnSpPr>
        <p:spPr>
          <a:xfrm flipV="1">
            <a:off x="2433320" y="1823244"/>
            <a:ext cx="1772920" cy="123491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Přímá spojnice se šipkou 45">
            <a:extLst>
              <a:ext uri="{FF2B5EF4-FFF2-40B4-BE49-F238E27FC236}">
                <a16:creationId xmlns:a16="http://schemas.microsoft.com/office/drawing/2014/main" id="{37019046-8D8B-F842-A2D7-29B5D16C94DF}"/>
              </a:ext>
            </a:extLst>
          </p:cNvPr>
          <p:cNvCxnSpPr/>
          <p:nvPr/>
        </p:nvCxnSpPr>
        <p:spPr>
          <a:xfrm>
            <a:off x="2394858" y="2172380"/>
            <a:ext cx="1811382" cy="65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římá spojnice se šipkou 47">
            <a:extLst>
              <a:ext uri="{FF2B5EF4-FFF2-40B4-BE49-F238E27FC236}">
                <a16:creationId xmlns:a16="http://schemas.microsoft.com/office/drawing/2014/main" id="{B74F465D-FD83-AA96-500B-AA7B64425233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394858" y="2172380"/>
            <a:ext cx="1811382" cy="40050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Přímá spojnice se šipkou 52">
            <a:extLst>
              <a:ext uri="{FF2B5EF4-FFF2-40B4-BE49-F238E27FC236}">
                <a16:creationId xmlns:a16="http://schemas.microsoft.com/office/drawing/2014/main" id="{2D583251-CBBB-EF11-8F1C-C09ECDF529D6}"/>
              </a:ext>
            </a:extLst>
          </p:cNvPr>
          <p:cNvCxnSpPr/>
          <p:nvPr/>
        </p:nvCxnSpPr>
        <p:spPr>
          <a:xfrm flipV="1">
            <a:off x="2433320" y="2172380"/>
            <a:ext cx="1772920" cy="88578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Přímá spojnice se šipkou 54">
            <a:extLst>
              <a:ext uri="{FF2B5EF4-FFF2-40B4-BE49-F238E27FC236}">
                <a16:creationId xmlns:a16="http://schemas.microsoft.com/office/drawing/2014/main" id="{1831905B-681C-6411-FC8E-2E068DCAE4DA}"/>
              </a:ext>
            </a:extLst>
          </p:cNvPr>
          <p:cNvCxnSpPr/>
          <p:nvPr/>
        </p:nvCxnSpPr>
        <p:spPr>
          <a:xfrm>
            <a:off x="2394858" y="2178958"/>
            <a:ext cx="1811382" cy="39392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Přímá spojnice se šipkou 56">
            <a:extLst>
              <a:ext uri="{FF2B5EF4-FFF2-40B4-BE49-F238E27FC236}">
                <a16:creationId xmlns:a16="http://schemas.microsoft.com/office/drawing/2014/main" id="{522762EA-53A5-DACE-BDB7-418BD0C2156B}"/>
              </a:ext>
            </a:extLst>
          </p:cNvPr>
          <p:cNvCxnSpPr>
            <a:stCxn id="3" idx="3"/>
          </p:cNvCxnSpPr>
          <p:nvPr/>
        </p:nvCxnSpPr>
        <p:spPr>
          <a:xfrm>
            <a:off x="2394858" y="2572884"/>
            <a:ext cx="1811382" cy="657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Přímá spojnice se šipkou 58">
            <a:extLst>
              <a:ext uri="{FF2B5EF4-FFF2-40B4-BE49-F238E27FC236}">
                <a16:creationId xmlns:a16="http://schemas.microsoft.com/office/drawing/2014/main" id="{306C2AB0-8464-27E8-F787-19D131AECE4F}"/>
              </a:ext>
            </a:extLst>
          </p:cNvPr>
          <p:cNvCxnSpPr/>
          <p:nvPr/>
        </p:nvCxnSpPr>
        <p:spPr>
          <a:xfrm flipV="1">
            <a:off x="2433320" y="2579461"/>
            <a:ext cx="1772920" cy="47869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Přímá spojnice se šipkou 60">
            <a:extLst>
              <a:ext uri="{FF2B5EF4-FFF2-40B4-BE49-F238E27FC236}">
                <a16:creationId xmlns:a16="http://schemas.microsoft.com/office/drawing/2014/main" id="{87E830E5-BFD5-E3BB-4034-2E00B3613539}"/>
              </a:ext>
            </a:extLst>
          </p:cNvPr>
          <p:cNvCxnSpPr/>
          <p:nvPr/>
        </p:nvCxnSpPr>
        <p:spPr>
          <a:xfrm>
            <a:off x="2394858" y="2172380"/>
            <a:ext cx="1811382" cy="80803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Přímá spojnice se šipkou 62">
            <a:extLst>
              <a:ext uri="{FF2B5EF4-FFF2-40B4-BE49-F238E27FC236}">
                <a16:creationId xmlns:a16="http://schemas.microsoft.com/office/drawing/2014/main" id="{C19BF5CD-8EC1-15B8-5D8A-F96DC86ACB45}"/>
              </a:ext>
            </a:extLst>
          </p:cNvPr>
          <p:cNvCxnSpPr>
            <a:stCxn id="3" idx="3"/>
          </p:cNvCxnSpPr>
          <p:nvPr/>
        </p:nvCxnSpPr>
        <p:spPr>
          <a:xfrm>
            <a:off x="2394858" y="2572884"/>
            <a:ext cx="1811382" cy="4075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římá spojnice se šipkou 64">
            <a:extLst>
              <a:ext uri="{FF2B5EF4-FFF2-40B4-BE49-F238E27FC236}">
                <a16:creationId xmlns:a16="http://schemas.microsoft.com/office/drawing/2014/main" id="{FA6D6E87-61ED-E6C2-39BC-F515BECCA918}"/>
              </a:ext>
            </a:extLst>
          </p:cNvPr>
          <p:cNvCxnSpPr/>
          <p:nvPr/>
        </p:nvCxnSpPr>
        <p:spPr>
          <a:xfrm flipV="1">
            <a:off x="2433320" y="2980418"/>
            <a:ext cx="1772920" cy="7774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Přímá spojnice se šipkou 66">
            <a:extLst>
              <a:ext uri="{FF2B5EF4-FFF2-40B4-BE49-F238E27FC236}">
                <a16:creationId xmlns:a16="http://schemas.microsoft.com/office/drawing/2014/main" id="{551A9E6A-A3BB-AAFA-C3A1-66DF9FF9AB97}"/>
              </a:ext>
            </a:extLst>
          </p:cNvPr>
          <p:cNvCxnSpPr/>
          <p:nvPr/>
        </p:nvCxnSpPr>
        <p:spPr>
          <a:xfrm>
            <a:off x="4734560" y="1778227"/>
            <a:ext cx="2651760" cy="2211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Přímá spojnice se šipkou 68">
            <a:extLst>
              <a:ext uri="{FF2B5EF4-FFF2-40B4-BE49-F238E27FC236}">
                <a16:creationId xmlns:a16="http://schemas.microsoft.com/office/drawing/2014/main" id="{BC93BC62-2768-8CD3-0303-C46E8893E464}"/>
              </a:ext>
            </a:extLst>
          </p:cNvPr>
          <p:cNvCxnSpPr/>
          <p:nvPr/>
        </p:nvCxnSpPr>
        <p:spPr>
          <a:xfrm>
            <a:off x="4759960" y="1778227"/>
            <a:ext cx="2626360" cy="59440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Přímá spojnice se šipkou 70">
            <a:extLst>
              <a:ext uri="{FF2B5EF4-FFF2-40B4-BE49-F238E27FC236}">
                <a16:creationId xmlns:a16="http://schemas.microsoft.com/office/drawing/2014/main" id="{4BB35ACB-9DB8-ED06-95C1-668EA0811BED}"/>
              </a:ext>
            </a:extLst>
          </p:cNvPr>
          <p:cNvCxnSpPr/>
          <p:nvPr/>
        </p:nvCxnSpPr>
        <p:spPr>
          <a:xfrm>
            <a:off x="4734560" y="1778227"/>
            <a:ext cx="2651760" cy="102915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Přímá spojnice se šipkou 72">
            <a:extLst>
              <a:ext uri="{FF2B5EF4-FFF2-40B4-BE49-F238E27FC236}">
                <a16:creationId xmlns:a16="http://schemas.microsoft.com/office/drawing/2014/main" id="{B14FCF0F-B7CE-1BFB-3665-54BBF99324C7}"/>
              </a:ext>
            </a:extLst>
          </p:cNvPr>
          <p:cNvCxnSpPr/>
          <p:nvPr/>
        </p:nvCxnSpPr>
        <p:spPr>
          <a:xfrm flipV="1">
            <a:off x="4734560" y="1999344"/>
            <a:ext cx="2651760" cy="1987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Přímá spojnice se šipkou 74">
            <a:extLst>
              <a:ext uri="{FF2B5EF4-FFF2-40B4-BE49-F238E27FC236}">
                <a16:creationId xmlns:a16="http://schemas.microsoft.com/office/drawing/2014/main" id="{3014CB4C-AF23-430B-A92C-7EB969C858F4}"/>
              </a:ext>
            </a:extLst>
          </p:cNvPr>
          <p:cNvCxnSpPr/>
          <p:nvPr/>
        </p:nvCxnSpPr>
        <p:spPr>
          <a:xfrm>
            <a:off x="4759960" y="2209801"/>
            <a:ext cx="2626360" cy="1628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Přímá spojnice se šipkou 76">
            <a:extLst>
              <a:ext uri="{FF2B5EF4-FFF2-40B4-BE49-F238E27FC236}">
                <a16:creationId xmlns:a16="http://schemas.microsoft.com/office/drawing/2014/main" id="{482B93A0-FDCB-1D5B-831F-22CD2D627106}"/>
              </a:ext>
            </a:extLst>
          </p:cNvPr>
          <p:cNvCxnSpPr>
            <a:cxnSpLocks/>
          </p:cNvCxnSpPr>
          <p:nvPr/>
        </p:nvCxnSpPr>
        <p:spPr>
          <a:xfrm>
            <a:off x="4751615" y="2204643"/>
            <a:ext cx="2634705" cy="59616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Přímá spojnice se šipkou 78">
            <a:extLst>
              <a:ext uri="{FF2B5EF4-FFF2-40B4-BE49-F238E27FC236}">
                <a16:creationId xmlns:a16="http://schemas.microsoft.com/office/drawing/2014/main" id="{E648B545-7FA0-B6F6-E3B7-157982628AAD}"/>
              </a:ext>
            </a:extLst>
          </p:cNvPr>
          <p:cNvCxnSpPr/>
          <p:nvPr/>
        </p:nvCxnSpPr>
        <p:spPr>
          <a:xfrm flipV="1">
            <a:off x="4759960" y="1992765"/>
            <a:ext cx="2626360" cy="58669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Přímá spojnice se šipkou 80">
            <a:extLst>
              <a:ext uri="{FF2B5EF4-FFF2-40B4-BE49-F238E27FC236}">
                <a16:creationId xmlns:a16="http://schemas.microsoft.com/office/drawing/2014/main" id="{846F1CA5-78C1-2812-3CCA-82562229677E}"/>
              </a:ext>
            </a:extLst>
          </p:cNvPr>
          <p:cNvCxnSpPr/>
          <p:nvPr/>
        </p:nvCxnSpPr>
        <p:spPr>
          <a:xfrm flipV="1">
            <a:off x="4759960" y="2358573"/>
            <a:ext cx="2626360" cy="22088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Přímá spojnice se šipkou 82">
            <a:extLst>
              <a:ext uri="{FF2B5EF4-FFF2-40B4-BE49-F238E27FC236}">
                <a16:creationId xmlns:a16="http://schemas.microsoft.com/office/drawing/2014/main" id="{ABB6C767-7055-5CAB-0E55-5AFA70398BD8}"/>
              </a:ext>
            </a:extLst>
          </p:cNvPr>
          <p:cNvCxnSpPr>
            <a:cxnSpLocks/>
          </p:cNvCxnSpPr>
          <p:nvPr/>
        </p:nvCxnSpPr>
        <p:spPr>
          <a:xfrm>
            <a:off x="4759960" y="2576172"/>
            <a:ext cx="2626360" cy="2246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Přímá spojnice se šipkou 84">
            <a:extLst>
              <a:ext uri="{FF2B5EF4-FFF2-40B4-BE49-F238E27FC236}">
                <a16:creationId xmlns:a16="http://schemas.microsoft.com/office/drawing/2014/main" id="{7D3513E5-3475-C9FC-5C5C-DBEDCC671E9B}"/>
              </a:ext>
            </a:extLst>
          </p:cNvPr>
          <p:cNvCxnSpPr>
            <a:cxnSpLocks/>
          </p:cNvCxnSpPr>
          <p:nvPr/>
        </p:nvCxnSpPr>
        <p:spPr>
          <a:xfrm flipV="1">
            <a:off x="4759960" y="1992765"/>
            <a:ext cx="2626360" cy="9942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Přímá spojnice se šipkou 86">
            <a:extLst>
              <a:ext uri="{FF2B5EF4-FFF2-40B4-BE49-F238E27FC236}">
                <a16:creationId xmlns:a16="http://schemas.microsoft.com/office/drawing/2014/main" id="{F15BDA9F-6757-24C0-F5FA-3583E4A94856}"/>
              </a:ext>
            </a:extLst>
          </p:cNvPr>
          <p:cNvCxnSpPr/>
          <p:nvPr/>
        </p:nvCxnSpPr>
        <p:spPr>
          <a:xfrm flipV="1">
            <a:off x="4759960" y="2358573"/>
            <a:ext cx="2626360" cy="62842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Přímá spojnice se šipkou 88">
            <a:extLst>
              <a:ext uri="{FF2B5EF4-FFF2-40B4-BE49-F238E27FC236}">
                <a16:creationId xmlns:a16="http://schemas.microsoft.com/office/drawing/2014/main" id="{B9F479B9-67D0-D874-C2A0-2102C2E75E28}"/>
              </a:ext>
            </a:extLst>
          </p:cNvPr>
          <p:cNvCxnSpPr>
            <a:cxnSpLocks/>
          </p:cNvCxnSpPr>
          <p:nvPr/>
        </p:nvCxnSpPr>
        <p:spPr>
          <a:xfrm flipV="1">
            <a:off x="4751615" y="2773361"/>
            <a:ext cx="2639785" cy="21162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Přímá spojnice se šipkou 90">
            <a:extLst>
              <a:ext uri="{FF2B5EF4-FFF2-40B4-BE49-F238E27FC236}">
                <a16:creationId xmlns:a16="http://schemas.microsoft.com/office/drawing/2014/main" id="{FAD32E01-1516-BD1D-AC7C-0F34B50DB55A}"/>
              </a:ext>
            </a:extLst>
          </p:cNvPr>
          <p:cNvCxnSpPr>
            <a:cxnSpLocks/>
          </p:cNvCxnSpPr>
          <p:nvPr/>
        </p:nvCxnSpPr>
        <p:spPr>
          <a:xfrm>
            <a:off x="7853681" y="1989250"/>
            <a:ext cx="1915159" cy="1009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Přímá spojnice se šipkou 93">
            <a:extLst>
              <a:ext uri="{FF2B5EF4-FFF2-40B4-BE49-F238E27FC236}">
                <a16:creationId xmlns:a16="http://schemas.microsoft.com/office/drawing/2014/main" id="{3AD2E439-A562-3E65-912E-4E301C9076A8}"/>
              </a:ext>
            </a:extLst>
          </p:cNvPr>
          <p:cNvCxnSpPr/>
          <p:nvPr/>
        </p:nvCxnSpPr>
        <p:spPr>
          <a:xfrm flipV="1">
            <a:off x="7848600" y="1999344"/>
            <a:ext cx="1935480" cy="40050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Přímá spojnice se šipkou 95">
            <a:extLst>
              <a:ext uri="{FF2B5EF4-FFF2-40B4-BE49-F238E27FC236}">
                <a16:creationId xmlns:a16="http://schemas.microsoft.com/office/drawing/2014/main" id="{11AD5176-0961-671C-7C40-A440734E5BDD}"/>
              </a:ext>
            </a:extLst>
          </p:cNvPr>
          <p:cNvCxnSpPr/>
          <p:nvPr/>
        </p:nvCxnSpPr>
        <p:spPr>
          <a:xfrm flipV="1">
            <a:off x="7853681" y="1999344"/>
            <a:ext cx="1915159" cy="80803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Přímá spojnice se šipkou 97">
            <a:extLst>
              <a:ext uri="{FF2B5EF4-FFF2-40B4-BE49-F238E27FC236}">
                <a16:creationId xmlns:a16="http://schemas.microsoft.com/office/drawing/2014/main" id="{0F462518-17CC-7C76-0641-C96ADC2B1EB1}"/>
              </a:ext>
            </a:extLst>
          </p:cNvPr>
          <p:cNvCxnSpPr>
            <a:cxnSpLocks/>
          </p:cNvCxnSpPr>
          <p:nvPr/>
        </p:nvCxnSpPr>
        <p:spPr>
          <a:xfrm>
            <a:off x="7848600" y="1989250"/>
            <a:ext cx="1904276" cy="82822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Přímá spojnice se šipkou 99">
            <a:extLst>
              <a:ext uri="{FF2B5EF4-FFF2-40B4-BE49-F238E27FC236}">
                <a16:creationId xmlns:a16="http://schemas.microsoft.com/office/drawing/2014/main" id="{DA51234A-C796-08AB-EFC8-5E0273664EC7}"/>
              </a:ext>
            </a:extLst>
          </p:cNvPr>
          <p:cNvCxnSpPr>
            <a:cxnSpLocks/>
          </p:cNvCxnSpPr>
          <p:nvPr/>
        </p:nvCxnSpPr>
        <p:spPr>
          <a:xfrm>
            <a:off x="7848600" y="2399846"/>
            <a:ext cx="1907178" cy="41762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Přímá spojnice se šipkou 101">
            <a:extLst>
              <a:ext uri="{FF2B5EF4-FFF2-40B4-BE49-F238E27FC236}">
                <a16:creationId xmlns:a16="http://schemas.microsoft.com/office/drawing/2014/main" id="{18294CC3-BF6C-FA89-2E3A-8BDE1C0B0035}"/>
              </a:ext>
            </a:extLst>
          </p:cNvPr>
          <p:cNvCxnSpPr>
            <a:cxnSpLocks/>
          </p:cNvCxnSpPr>
          <p:nvPr/>
        </p:nvCxnSpPr>
        <p:spPr>
          <a:xfrm>
            <a:off x="7848600" y="2807381"/>
            <a:ext cx="1910080" cy="1009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Zástupný obsah 2">
            <a:extLst>
              <a:ext uri="{FF2B5EF4-FFF2-40B4-BE49-F238E27FC236}">
                <a16:creationId xmlns:a16="http://schemas.microsoft.com/office/drawing/2014/main" id="{CD760A59-825E-4846-D57E-934B6E2046D4}"/>
              </a:ext>
            </a:extLst>
          </p:cNvPr>
          <p:cNvSpPr txBox="1">
            <a:spLocks/>
          </p:cNvSpPr>
          <p:nvPr/>
        </p:nvSpPr>
        <p:spPr>
          <a:xfrm>
            <a:off x="3389692" y="3295652"/>
            <a:ext cx="2146904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cs-CZ" sz="2400" dirty="0">
                <a:solidFill>
                  <a:srgbClr val="C00000"/>
                </a:solidFill>
              </a:rPr>
              <a:t>64 neuronů</a:t>
            </a:r>
          </a:p>
        </p:txBody>
      </p:sp>
      <p:sp>
        <p:nvSpPr>
          <p:cNvPr id="112" name="Zástupný obsah 2">
            <a:extLst>
              <a:ext uri="{FF2B5EF4-FFF2-40B4-BE49-F238E27FC236}">
                <a16:creationId xmlns:a16="http://schemas.microsoft.com/office/drawing/2014/main" id="{91013FFD-03AA-6CB0-CD58-BCDCD42BA9A9}"/>
              </a:ext>
            </a:extLst>
          </p:cNvPr>
          <p:cNvSpPr txBox="1">
            <a:spLocks/>
          </p:cNvSpPr>
          <p:nvPr/>
        </p:nvSpPr>
        <p:spPr>
          <a:xfrm>
            <a:off x="6653834" y="3232263"/>
            <a:ext cx="2146904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cs-CZ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32 neuronů</a:t>
            </a:r>
          </a:p>
        </p:txBody>
      </p:sp>
      <p:cxnSp>
        <p:nvCxnSpPr>
          <p:cNvPr id="114" name="Přímá spojnice se šipkou 113">
            <a:extLst>
              <a:ext uri="{FF2B5EF4-FFF2-40B4-BE49-F238E27FC236}">
                <a16:creationId xmlns:a16="http://schemas.microsoft.com/office/drawing/2014/main" id="{7DF73CB6-55CE-0BF2-D4A7-2D2624616232}"/>
              </a:ext>
            </a:extLst>
          </p:cNvPr>
          <p:cNvCxnSpPr>
            <a:cxnSpLocks/>
          </p:cNvCxnSpPr>
          <p:nvPr/>
        </p:nvCxnSpPr>
        <p:spPr>
          <a:xfrm flipH="1">
            <a:off x="2566067" y="3295652"/>
            <a:ext cx="397266" cy="886843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Přímá spojnice se šipkou 115">
            <a:extLst>
              <a:ext uri="{FF2B5EF4-FFF2-40B4-BE49-F238E27FC236}">
                <a16:creationId xmlns:a16="http://schemas.microsoft.com/office/drawing/2014/main" id="{2FF28304-CF3B-8B76-BA6A-8DF34855080C}"/>
              </a:ext>
            </a:extLst>
          </p:cNvPr>
          <p:cNvCxnSpPr>
            <a:cxnSpLocks/>
          </p:cNvCxnSpPr>
          <p:nvPr/>
        </p:nvCxnSpPr>
        <p:spPr>
          <a:xfrm>
            <a:off x="5962955" y="3417060"/>
            <a:ext cx="0" cy="82882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Přímá spojnice se šipkou 117">
            <a:extLst>
              <a:ext uri="{FF2B5EF4-FFF2-40B4-BE49-F238E27FC236}">
                <a16:creationId xmlns:a16="http://schemas.microsoft.com/office/drawing/2014/main" id="{88C4A126-7CFF-C65A-3642-02CB82F1532D}"/>
              </a:ext>
            </a:extLst>
          </p:cNvPr>
          <p:cNvCxnSpPr>
            <a:cxnSpLocks/>
          </p:cNvCxnSpPr>
          <p:nvPr/>
        </p:nvCxnSpPr>
        <p:spPr>
          <a:xfrm>
            <a:off x="8962578" y="3317158"/>
            <a:ext cx="264519" cy="865336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Zástupný obsah 2">
            <a:extLst>
              <a:ext uri="{FF2B5EF4-FFF2-40B4-BE49-F238E27FC236}">
                <a16:creationId xmlns:a16="http://schemas.microsoft.com/office/drawing/2014/main" id="{5E94B1D8-5BE1-E780-29D6-BEBBCF3D1102}"/>
              </a:ext>
            </a:extLst>
          </p:cNvPr>
          <p:cNvSpPr txBox="1">
            <a:spLocks/>
          </p:cNvSpPr>
          <p:nvPr/>
        </p:nvSpPr>
        <p:spPr>
          <a:xfrm>
            <a:off x="1257909" y="4240341"/>
            <a:ext cx="2545079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cs-CZ" sz="2400" dirty="0"/>
              <a:t>Aktivační funkce: </a:t>
            </a:r>
            <a:r>
              <a:rPr lang="cs-CZ" sz="2400" dirty="0" err="1"/>
              <a:t>ReLU</a:t>
            </a:r>
            <a:endParaRPr lang="cs-CZ" sz="2400" dirty="0"/>
          </a:p>
        </p:txBody>
      </p:sp>
      <p:sp>
        <p:nvSpPr>
          <p:cNvPr id="123" name="Zástupný obsah 2">
            <a:extLst>
              <a:ext uri="{FF2B5EF4-FFF2-40B4-BE49-F238E27FC236}">
                <a16:creationId xmlns:a16="http://schemas.microsoft.com/office/drawing/2014/main" id="{5BD6BEC3-F819-F5B4-87E1-9BF042259D29}"/>
              </a:ext>
            </a:extLst>
          </p:cNvPr>
          <p:cNvSpPr txBox="1">
            <a:spLocks/>
          </p:cNvSpPr>
          <p:nvPr/>
        </p:nvSpPr>
        <p:spPr>
          <a:xfrm>
            <a:off x="4690415" y="4292146"/>
            <a:ext cx="2545079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cs-CZ" sz="2400" dirty="0"/>
              <a:t>Aktivační funkce: </a:t>
            </a:r>
            <a:r>
              <a:rPr lang="cs-CZ" sz="2400" dirty="0" err="1"/>
              <a:t>ReLU</a:t>
            </a:r>
            <a:endParaRPr lang="cs-CZ" sz="2400" dirty="0"/>
          </a:p>
        </p:txBody>
      </p:sp>
      <p:sp>
        <p:nvSpPr>
          <p:cNvPr id="124" name="Zástupný obsah 2">
            <a:extLst>
              <a:ext uri="{FF2B5EF4-FFF2-40B4-BE49-F238E27FC236}">
                <a16:creationId xmlns:a16="http://schemas.microsoft.com/office/drawing/2014/main" id="{66864550-5141-9644-F62D-92AE3A096B0A}"/>
              </a:ext>
            </a:extLst>
          </p:cNvPr>
          <p:cNvSpPr txBox="1">
            <a:spLocks/>
          </p:cNvSpPr>
          <p:nvPr/>
        </p:nvSpPr>
        <p:spPr>
          <a:xfrm>
            <a:off x="8122921" y="4302351"/>
            <a:ext cx="2545079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cs-CZ" sz="2400" dirty="0"/>
              <a:t>Aktivační funkce: </a:t>
            </a:r>
            <a:r>
              <a:rPr lang="cs-CZ" sz="2400" dirty="0" err="1"/>
              <a:t>Sigmoida</a:t>
            </a:r>
            <a:endParaRPr lang="cs-CZ" sz="2400" dirty="0"/>
          </a:p>
        </p:txBody>
      </p:sp>
      <p:pic>
        <p:nvPicPr>
          <p:cNvPr id="126" name="Obrázek 125">
            <a:extLst>
              <a:ext uri="{FF2B5EF4-FFF2-40B4-BE49-F238E27FC236}">
                <a16:creationId xmlns:a16="http://schemas.microsoft.com/office/drawing/2014/main" id="{89B24BE3-C86C-2CA8-FA55-8B9E0C582C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164"/>
          <a:stretch>
            <a:fillRect/>
          </a:stretch>
        </p:blipFill>
        <p:spPr>
          <a:xfrm>
            <a:off x="1621434" y="5143220"/>
            <a:ext cx="1883342" cy="1524223"/>
          </a:xfrm>
          <a:prstGeom prst="rect">
            <a:avLst/>
          </a:prstGeom>
        </p:spPr>
      </p:pic>
      <p:pic>
        <p:nvPicPr>
          <p:cNvPr id="130" name="Obrázek 129">
            <a:extLst>
              <a:ext uri="{FF2B5EF4-FFF2-40B4-BE49-F238E27FC236}">
                <a16:creationId xmlns:a16="http://schemas.microsoft.com/office/drawing/2014/main" id="{A43869E2-D2C7-26F6-EF4F-78020D62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164"/>
          <a:stretch>
            <a:fillRect/>
          </a:stretch>
        </p:blipFill>
        <p:spPr>
          <a:xfrm>
            <a:off x="5053940" y="5143220"/>
            <a:ext cx="1883342" cy="1524223"/>
          </a:xfrm>
          <a:prstGeom prst="rect">
            <a:avLst/>
          </a:prstGeom>
        </p:spPr>
      </p:pic>
      <p:pic>
        <p:nvPicPr>
          <p:cNvPr id="132" name="Obrázek 131">
            <a:extLst>
              <a:ext uri="{FF2B5EF4-FFF2-40B4-BE49-F238E27FC236}">
                <a16:creationId xmlns:a16="http://schemas.microsoft.com/office/drawing/2014/main" id="{A86431D1-CF24-08A7-33F2-DE563518AD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018"/>
          <a:stretch>
            <a:fillRect/>
          </a:stretch>
        </p:blipFill>
        <p:spPr>
          <a:xfrm>
            <a:off x="8486446" y="5216694"/>
            <a:ext cx="1995746" cy="152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51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29A1B3-E926-D769-E62C-57BD3AF8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Realizace a trénování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084A6D9A-392A-780A-66A5-60BAC15AD0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88788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cs-CZ" dirty="0"/>
                  <a:t>PyTorch (Python)</a:t>
                </a:r>
              </a:p>
              <a:p>
                <a:r>
                  <a:rPr lang="cs-CZ" dirty="0"/>
                  <a:t>Rozdělení trénovací : testovací set – 80:20</a:t>
                </a:r>
              </a:p>
              <a:p>
                <a:pPr lvl="1"/>
                <a:r>
                  <a:rPr lang="cs-CZ" dirty="0"/>
                  <a:t>Bez škálování dat – zhoršení predikce</a:t>
                </a:r>
              </a:p>
              <a:p>
                <a:r>
                  <a:rPr lang="cs-CZ" dirty="0"/>
                  <a:t>Learning </a:t>
                </a:r>
                <a:r>
                  <a:rPr lang="cs-CZ" dirty="0" err="1"/>
                  <a:t>rate</a:t>
                </a:r>
                <a:r>
                  <a:rPr lang="cs-CZ" dirty="0"/>
                  <a:t> </a:t>
                </a: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cs-CZ" b="0" i="1" smtClean="0">
                        <a:latin typeface="Cambria Math" panose="02040503050406030204" pitchFamily="18" charset="0"/>
                      </a:rPr>
                      <m:t>=0.0001</m:t>
                    </m:r>
                  </m:oMath>
                </a14:m>
                <a:endParaRPr lang="cs-CZ" dirty="0"/>
              </a:p>
              <a:p>
                <a:r>
                  <a:rPr lang="cs-CZ" dirty="0"/>
                  <a:t>Počet epoch (iterací) = 5000</a:t>
                </a:r>
              </a:p>
              <a:p>
                <a:r>
                  <a:rPr lang="cs-CZ" dirty="0" err="1"/>
                  <a:t>Loss</a:t>
                </a:r>
                <a:r>
                  <a:rPr lang="cs-CZ" dirty="0"/>
                  <a:t> </a:t>
                </a:r>
                <a:r>
                  <a:rPr lang="cs-CZ" dirty="0" err="1"/>
                  <a:t>function</a:t>
                </a:r>
                <a:r>
                  <a:rPr lang="cs-CZ" dirty="0"/>
                  <a:t> – Binary </a:t>
                </a:r>
                <a:r>
                  <a:rPr lang="cs-CZ" dirty="0" err="1"/>
                  <a:t>Cross-Entropy</a:t>
                </a:r>
                <a:r>
                  <a:rPr lang="cs-CZ" dirty="0"/>
                  <a:t> (BCE)</a:t>
                </a:r>
              </a:p>
              <a:p>
                <a:endParaRPr lang="cs-CZ" dirty="0"/>
              </a:p>
              <a:p>
                <a:endParaRPr lang="cs-CZ" dirty="0"/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084A6D9A-392A-780A-66A5-60BAC15AD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887889"/>
              </a:xfrm>
              <a:blipFill>
                <a:blip r:embed="rId2"/>
                <a:stretch>
                  <a:fillRect l="-1043" t="-464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429B5B4-074D-6F38-8B1A-A77CA321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10</a:t>
            </a:fld>
            <a:endParaRPr lang="cs-CZ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ovéPole 4">
                <a:extLst>
                  <a:ext uri="{FF2B5EF4-FFF2-40B4-BE49-F238E27FC236}">
                    <a16:creationId xmlns:a16="http://schemas.microsoft.com/office/drawing/2014/main" id="{1BEF5E72-B86B-97FF-91FC-DB7DAEA79CF8}"/>
                  </a:ext>
                </a:extLst>
              </p:cNvPr>
              <p:cNvSpPr txBox="1"/>
              <p:nvPr/>
            </p:nvSpPr>
            <p:spPr>
              <a:xfrm>
                <a:off x="1431252" y="4713514"/>
                <a:ext cx="5849807" cy="13154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2400" b="0" i="1" smtClean="0">
                          <a:latin typeface="Cambria Math" panose="02040503050406030204" pitchFamily="18" charset="0"/>
                        </a:rPr>
                        <m:t>𝐵𝐶𝐸</m:t>
                      </m:r>
                      <m:r>
                        <a:rPr lang="cs-CZ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cs-CZ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cs-CZ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cs-CZ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cs-CZ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cs-CZ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cs-CZ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cs-CZ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cs-CZ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cs-CZ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cs-CZ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acc>
                                <m:accPr>
                                  <m:chr m:val="̂"/>
                                  <m:ctrlPr>
                                    <a:rPr lang="cs-CZ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cs-CZ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cs-CZ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cs-CZ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cs-CZ" sz="2400" i="1">
                                  <a:latin typeface="Cambria Math" panose="02040503050406030204" pitchFamily="18" charset="0"/>
                                </a:rPr>
                                <m:t>+(1−</m:t>
                              </m:r>
                              <m:sSub>
                                <m:sSubPr>
                                  <m:ctrlPr>
                                    <a:rPr lang="cs-CZ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s-CZ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cs-CZ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cs-CZ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cs-CZ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cs-CZ" sz="24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cs-CZ" sz="2400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cs-CZ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cs-CZ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cs-CZ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cs-CZ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cs-CZ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func>
                          <m:r>
                            <a:rPr lang="cs-CZ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cs-CZ" b="0" dirty="0"/>
              </a:p>
              <a:p>
                <a:endParaRPr lang="cs-CZ" dirty="0"/>
              </a:p>
            </p:txBody>
          </p:sp>
        </mc:Choice>
        <mc:Fallback>
          <p:sp>
            <p:nvSpPr>
              <p:cNvPr id="5" name="TextovéPole 4">
                <a:extLst>
                  <a:ext uri="{FF2B5EF4-FFF2-40B4-BE49-F238E27FC236}">
                    <a16:creationId xmlns:a16="http://schemas.microsoft.com/office/drawing/2014/main" id="{1BEF5E72-B86B-97FF-91FC-DB7DAEA79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252" y="4713514"/>
                <a:ext cx="5849807" cy="13154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rázek 7">
            <a:extLst>
              <a:ext uri="{FF2B5EF4-FFF2-40B4-BE49-F238E27FC236}">
                <a16:creationId xmlns:a16="http://schemas.microsoft.com/office/drawing/2014/main" id="{04ED4823-530C-EBB5-2875-1E6A83FA1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7" t="1244" r="6907" b="-1244"/>
          <a:stretch>
            <a:fillRect/>
          </a:stretch>
        </p:blipFill>
        <p:spPr>
          <a:xfrm>
            <a:off x="7835845" y="1708434"/>
            <a:ext cx="4292709" cy="344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2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DE06E8-CAC0-BB72-67FA-701D9350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Výsledky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42B0029A-70E0-6403-0640-7A838DE65F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11686" cy="4351338"/>
              </a:xfrm>
            </p:spPr>
            <p:txBody>
              <a:bodyPr/>
              <a:lstStyle/>
              <a:p>
                <a:r>
                  <a:rPr lang="cs-CZ" dirty="0"/>
                  <a:t>Hodnocení přesnosti – F1 </a:t>
                </a:r>
                <a:r>
                  <a:rPr lang="cs-CZ" dirty="0" err="1"/>
                  <a:t>score</a:t>
                </a:r>
                <a:endParaRPr lang="cs-CZ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cs-CZ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cs-CZ" b="0" i="1" dirty="0" smtClean="0">
                        <a:latin typeface="Cambria Math" panose="02040503050406030204" pitchFamily="18" charset="0"/>
                      </a:rPr>
                      <m:t>𝑟𝑒𝑐𝑖𝑠𝑖𝑜𝑛</m:t>
                    </m:r>
                    <m:r>
                      <a:rPr lang="cs-CZ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cs-CZ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s-CZ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cs-CZ" b="0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cs-CZ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cs-CZ" b="0" i="1" dirty="0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cs-CZ" b="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cs-CZ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cs-CZ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cs-CZ" b="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cs-CZ" b="0" i="1" smtClean="0">
                        <a:latin typeface="Cambria Math" panose="02040503050406030204" pitchFamily="18" charset="0"/>
                      </a:rPr>
                      <m:t>1=</m:t>
                    </m:r>
                    <m:f>
                      <m:fPr>
                        <m:ctrlPr>
                          <a:rPr lang="cs-CZ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lit/>
                          </m:rPr>
                          <a:rPr lang="cs-CZ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cs-CZ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cs-CZ" b="0" i="0" smtClean="0">
                                <a:latin typeface="Cambria Math" panose="02040503050406030204" pitchFamily="18" charset="0"/>
                              </a:rPr>
                              <m:t>Precision</m:t>
                            </m:r>
                          </m:fName>
                          <m:e>
                            <m:r>
                              <a:rPr lang="cs-CZ" b="0" i="1" smtClean="0">
                                <a:latin typeface="Cambria Math" panose="02040503050406030204" pitchFamily="18" charset="0"/>
                              </a:rPr>
                              <m:t>𝑅𝑒𝑐𝑎𝑙𝑙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cs-CZ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cs-CZ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  <m:r>
                              <a:rPr lang="cs-CZ" b="0" i="1" smtClean="0">
                                <a:latin typeface="Cambria Math" panose="02040503050406030204" pitchFamily="18" charset="0"/>
                              </a:rPr>
                              <m:t>𝑒𝑐𝑖𝑠𝑖𝑜𝑛</m:t>
                            </m:r>
                          </m:fName>
                          <m:e>
                            <m:r>
                              <a:rPr lang="cs-CZ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cs-CZ" b="0" i="1" smtClean="0">
                                <a:latin typeface="Cambria Math" panose="02040503050406030204" pitchFamily="18" charset="0"/>
                              </a:rPr>
                              <m:t>𝑅𝑒</m:t>
                            </m:r>
                          </m:e>
                        </m:func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𝑐𝑎𝑙𝑙</m:t>
                        </m:r>
                      </m:den>
                    </m:f>
                  </m:oMath>
                </a14:m>
                <a:endParaRPr lang="cs-CZ" dirty="0"/>
              </a:p>
              <a:p>
                <a:r>
                  <a:rPr lang="cs-CZ" dirty="0"/>
                  <a:t>Sebevražedné myšlenky – F1 = </a:t>
                </a:r>
                <a:r>
                  <a:rPr lang="cs-CZ" b="1" dirty="0"/>
                  <a:t>64.7 %</a:t>
                </a:r>
              </a:p>
              <a:p>
                <a:r>
                  <a:rPr lang="cs-CZ" dirty="0"/>
                  <a:t>Deprese – F1 = </a:t>
                </a:r>
                <a:r>
                  <a:rPr lang="cs-CZ" b="1" dirty="0"/>
                  <a:t>80.7 %</a:t>
                </a:r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42B0029A-70E0-6403-0640-7A838DE65F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11686" cy="4351338"/>
              </a:xfrm>
              <a:blipFill>
                <a:blip r:embed="rId2"/>
                <a:stretch>
                  <a:fillRect l="-1713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2EAD2BF-ED79-B99F-8516-570D7B900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11</a:t>
            </a:fld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94C9261-7204-D94C-6454-5E8B29738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7" t="1244" r="6907" b="-1244"/>
          <a:stretch>
            <a:fillRect/>
          </a:stretch>
        </p:blipFill>
        <p:spPr>
          <a:xfrm>
            <a:off x="7835845" y="1708434"/>
            <a:ext cx="4292709" cy="34411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ovéPole 5">
                <a:extLst>
                  <a:ext uri="{FF2B5EF4-FFF2-40B4-BE49-F238E27FC236}">
                    <a16:creationId xmlns:a16="http://schemas.microsoft.com/office/drawing/2014/main" id="{AEEAF2E2-DB20-F911-8B17-A15FAB801ED6}"/>
                  </a:ext>
                </a:extLst>
              </p:cNvPr>
              <p:cNvSpPr txBox="1"/>
              <p:nvPr/>
            </p:nvSpPr>
            <p:spPr>
              <a:xfrm>
                <a:off x="4996542" y="2830285"/>
                <a:ext cx="2010999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𝑇𝑃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True</m:t>
                      </m:r>
                      <m:r>
                        <a:rPr lang="cs-CZ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positive</m:t>
                      </m:r>
                    </m:oMath>
                  </m:oMathPara>
                </a14:m>
                <a:endParaRPr lang="cs-CZ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False</m:t>
                      </m:r>
                      <m:r>
                        <a:rPr lang="cs-CZ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positive</m:t>
                      </m:r>
                    </m:oMath>
                  </m:oMathPara>
                </a14:m>
                <a:endParaRPr lang="cs-CZ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𝐹𝑁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False</m:t>
                      </m:r>
                      <m:r>
                        <a:rPr lang="cs-CZ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cs-CZ" b="0" i="0" smtClean="0">
                          <a:latin typeface="Cambria Math" panose="02040503050406030204" pitchFamily="18" charset="0"/>
                        </a:rPr>
                        <m:t>negative</m:t>
                      </m:r>
                    </m:oMath>
                  </m:oMathPara>
                </a14:m>
                <a:endParaRPr lang="cs-CZ" dirty="0"/>
              </a:p>
            </p:txBody>
          </p:sp>
        </mc:Choice>
        <mc:Fallback>
          <p:sp>
            <p:nvSpPr>
              <p:cNvPr id="6" name="TextovéPole 5">
                <a:extLst>
                  <a:ext uri="{FF2B5EF4-FFF2-40B4-BE49-F238E27FC236}">
                    <a16:creationId xmlns:a16="http://schemas.microsoft.com/office/drawing/2014/main" id="{AEEAF2E2-DB20-F911-8B17-A15FAB801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542" y="2830285"/>
                <a:ext cx="2010999" cy="830997"/>
              </a:xfrm>
              <a:prstGeom prst="rect">
                <a:avLst/>
              </a:prstGeom>
              <a:blipFill>
                <a:blip r:embed="rId4"/>
                <a:stretch>
                  <a:fillRect l="-2727" r="-3636" b="-10219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3018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3EF1-BCA1-0F8A-1121-391FA2663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F57701-3949-CFC8-A4FE-BCF8F4AC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Modelový student č.1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36E00E-595E-04C0-BDA6-4E90936DD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450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Vstupní proměnné:</a:t>
            </a:r>
          </a:p>
          <a:p>
            <a:r>
              <a:rPr lang="cs-CZ" sz="2200" dirty="0"/>
              <a:t>Pohlaví: 0</a:t>
            </a:r>
          </a:p>
          <a:p>
            <a:r>
              <a:rPr lang="cs-CZ" sz="2200" dirty="0"/>
              <a:t>Věk: 22</a:t>
            </a:r>
          </a:p>
          <a:p>
            <a:r>
              <a:rPr lang="cs-CZ" sz="2200" dirty="0"/>
              <a:t>Akademický tlak: 4</a:t>
            </a:r>
          </a:p>
          <a:p>
            <a:r>
              <a:rPr lang="cs-CZ" sz="2200" dirty="0"/>
              <a:t>Spokojenost: 2</a:t>
            </a:r>
          </a:p>
          <a:p>
            <a:r>
              <a:rPr lang="cs-CZ" sz="2200" dirty="0"/>
              <a:t>Spánek: 7.5</a:t>
            </a:r>
          </a:p>
          <a:p>
            <a:r>
              <a:rPr lang="cs-CZ" sz="2200" dirty="0"/>
              <a:t>Stravování: 0.9</a:t>
            </a:r>
          </a:p>
          <a:p>
            <a:r>
              <a:rPr lang="cs-CZ" sz="2200" dirty="0"/>
              <a:t>Hodiny studia: 9</a:t>
            </a:r>
          </a:p>
          <a:p>
            <a:r>
              <a:rPr lang="cs-CZ" sz="2200" dirty="0"/>
              <a:t>Finanční tlak: 2</a:t>
            </a:r>
          </a:p>
          <a:p>
            <a:r>
              <a:rPr lang="cs-CZ" sz="2200" dirty="0"/>
              <a:t>Nemoc v rodině: 1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E3752EA-F20D-E3C0-B478-E3EA1FE5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12</a:t>
            </a:fld>
            <a:endParaRPr lang="cs-CZ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49ECC46-A34D-9748-CE04-627CC2745333}"/>
              </a:ext>
            </a:extLst>
          </p:cNvPr>
          <p:cNvSpPr txBox="1">
            <a:spLocks/>
          </p:cNvSpPr>
          <p:nvPr/>
        </p:nvSpPr>
        <p:spPr>
          <a:xfrm>
            <a:off x="4288970" y="1847850"/>
            <a:ext cx="31350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b="1" dirty="0"/>
              <a:t>Predikce:</a:t>
            </a:r>
          </a:p>
          <a:p>
            <a:r>
              <a:rPr lang="cs-CZ" dirty="0"/>
              <a:t>Sebevražedné myšlenky: </a:t>
            </a:r>
            <a:r>
              <a:rPr lang="cs-CZ" b="1" dirty="0"/>
              <a:t>52.0 %</a:t>
            </a:r>
          </a:p>
          <a:p>
            <a:r>
              <a:rPr lang="cs-CZ" dirty="0"/>
              <a:t>Deprese: </a:t>
            </a:r>
            <a:r>
              <a:rPr lang="cs-CZ" b="1" dirty="0"/>
              <a:t>88.5 %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35AA72DE-F0AC-48A8-923A-9BC3BF907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19292" r="50000" b="51660"/>
          <a:stretch>
            <a:fillRect/>
          </a:stretch>
        </p:blipFill>
        <p:spPr>
          <a:xfrm>
            <a:off x="7913915" y="1706202"/>
            <a:ext cx="3657600" cy="420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606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61BEDE-EAFD-2B4C-3F99-653297AC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Modelový student č.2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C9859F-6F9C-DEA5-87A2-D927712D1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450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Vstupní proměnné:</a:t>
            </a:r>
          </a:p>
          <a:p>
            <a:r>
              <a:rPr lang="cs-CZ" sz="2200" dirty="0"/>
              <a:t>Pohlaví: 1</a:t>
            </a:r>
          </a:p>
          <a:p>
            <a:r>
              <a:rPr lang="cs-CZ" sz="2200" dirty="0"/>
              <a:t>Věk: 21</a:t>
            </a:r>
          </a:p>
          <a:p>
            <a:r>
              <a:rPr lang="cs-CZ" sz="2200" dirty="0"/>
              <a:t>Akademický tlak: 3</a:t>
            </a:r>
          </a:p>
          <a:p>
            <a:r>
              <a:rPr lang="cs-CZ" sz="2200" dirty="0"/>
              <a:t>Spokojenost: 4</a:t>
            </a:r>
          </a:p>
          <a:p>
            <a:r>
              <a:rPr lang="cs-CZ" sz="2200" dirty="0"/>
              <a:t>Spánek: 9.5</a:t>
            </a:r>
          </a:p>
          <a:p>
            <a:r>
              <a:rPr lang="cs-CZ" sz="2200" dirty="0"/>
              <a:t>Stravování: 0.8</a:t>
            </a:r>
          </a:p>
          <a:p>
            <a:r>
              <a:rPr lang="cs-CZ" sz="2200" dirty="0"/>
              <a:t>Hodiny studia: 7</a:t>
            </a:r>
          </a:p>
          <a:p>
            <a:r>
              <a:rPr lang="cs-CZ" sz="2200" dirty="0"/>
              <a:t>Finanční tlak: 2</a:t>
            </a:r>
          </a:p>
          <a:p>
            <a:r>
              <a:rPr lang="cs-CZ" sz="2200" dirty="0"/>
              <a:t>Nemoc v rodině: 0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1A657A9-333D-82B0-7A4C-AB4B6A78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13</a:t>
            </a:fld>
            <a:endParaRPr lang="cs-CZ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DB4FE883-B1F9-2D37-60D6-D1114F8FF2E6}"/>
              </a:ext>
            </a:extLst>
          </p:cNvPr>
          <p:cNvSpPr txBox="1">
            <a:spLocks/>
          </p:cNvSpPr>
          <p:nvPr/>
        </p:nvSpPr>
        <p:spPr>
          <a:xfrm>
            <a:off x="4288970" y="1847850"/>
            <a:ext cx="31350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b="1" dirty="0"/>
              <a:t>Predikce:</a:t>
            </a:r>
          </a:p>
          <a:p>
            <a:r>
              <a:rPr lang="cs-CZ" dirty="0"/>
              <a:t>Sebevražedné myšlenky: </a:t>
            </a:r>
            <a:r>
              <a:rPr lang="cs-CZ" b="1" dirty="0"/>
              <a:t>45.5 %</a:t>
            </a:r>
          </a:p>
          <a:p>
            <a:r>
              <a:rPr lang="cs-CZ" dirty="0"/>
              <a:t>Deprese: </a:t>
            </a:r>
            <a:r>
              <a:rPr lang="cs-CZ" b="1" dirty="0"/>
              <a:t>21.4 %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6BE0CD8-EB45-7A0C-1D44-D61187132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7" r="22908"/>
          <a:stretch>
            <a:fillRect/>
          </a:stretch>
        </p:blipFill>
        <p:spPr>
          <a:xfrm>
            <a:off x="7554684" y="1727305"/>
            <a:ext cx="4245430" cy="454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43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EA43-3233-BDDA-79D3-06A392CC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5DF305-0278-A236-7782-63351C1A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Modelový student č.3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32D5CE-3800-0505-5516-F9A9FD519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450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Vstupní proměnné:</a:t>
            </a:r>
          </a:p>
          <a:p>
            <a:r>
              <a:rPr lang="cs-CZ" sz="2200" dirty="0"/>
              <a:t>Pohlaví: 0</a:t>
            </a:r>
          </a:p>
          <a:p>
            <a:r>
              <a:rPr lang="cs-CZ" sz="2200" dirty="0"/>
              <a:t>Věk: 21</a:t>
            </a:r>
          </a:p>
          <a:p>
            <a:r>
              <a:rPr lang="cs-CZ" sz="2200" dirty="0"/>
              <a:t>Akademický tlak: 2</a:t>
            </a:r>
          </a:p>
          <a:p>
            <a:r>
              <a:rPr lang="cs-CZ" sz="2200" dirty="0"/>
              <a:t>Spokojenost: 4</a:t>
            </a:r>
          </a:p>
          <a:p>
            <a:r>
              <a:rPr lang="cs-CZ" sz="2200" dirty="0"/>
              <a:t>Spánek: 8.5</a:t>
            </a:r>
          </a:p>
          <a:p>
            <a:r>
              <a:rPr lang="cs-CZ" sz="2200" dirty="0"/>
              <a:t>Stravování: 0.75</a:t>
            </a:r>
          </a:p>
          <a:p>
            <a:r>
              <a:rPr lang="cs-CZ" sz="2200" dirty="0"/>
              <a:t>Hodiny studia: 4</a:t>
            </a:r>
          </a:p>
          <a:p>
            <a:r>
              <a:rPr lang="cs-CZ" sz="2200" dirty="0"/>
              <a:t>Finanční tlak: 1.5</a:t>
            </a:r>
          </a:p>
          <a:p>
            <a:r>
              <a:rPr lang="cs-CZ" sz="2200" dirty="0"/>
              <a:t>Nemoc v rodině: 0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C8B5712-B72F-D705-F9F5-0726A494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14</a:t>
            </a:fld>
            <a:endParaRPr lang="cs-CZ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E76922D9-4639-4269-0D06-96AF5BEDE1F9}"/>
              </a:ext>
            </a:extLst>
          </p:cNvPr>
          <p:cNvSpPr txBox="1">
            <a:spLocks/>
          </p:cNvSpPr>
          <p:nvPr/>
        </p:nvSpPr>
        <p:spPr>
          <a:xfrm>
            <a:off x="4288970" y="1847850"/>
            <a:ext cx="31350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b="1" dirty="0"/>
              <a:t>Predikce:</a:t>
            </a:r>
          </a:p>
          <a:p>
            <a:r>
              <a:rPr lang="cs-CZ" dirty="0"/>
              <a:t>Sebevražedné myšlenky: </a:t>
            </a:r>
            <a:r>
              <a:rPr lang="cs-CZ" b="1" dirty="0"/>
              <a:t>41.3 %</a:t>
            </a:r>
          </a:p>
          <a:p>
            <a:r>
              <a:rPr lang="cs-CZ" dirty="0"/>
              <a:t>Deprese: </a:t>
            </a:r>
            <a:r>
              <a:rPr lang="cs-CZ" b="1" dirty="0"/>
              <a:t>2.7 %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E994534-FB98-B2A4-D9B6-181FF38E3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5" t="5324" r="8813"/>
          <a:stretch>
            <a:fillRect/>
          </a:stretch>
        </p:blipFill>
        <p:spPr>
          <a:xfrm>
            <a:off x="7641772" y="1690688"/>
            <a:ext cx="4256314" cy="423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746568-20AC-2E34-540C-56E5D046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A0B6B1-EDCE-EB34-317A-C7870D97D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Vytvořena a natrénována optimální neuronová síť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Predikce deprese s uspokojivou přesností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Predikce sebevražedných myšlenek s neuspokojivou přesností</a:t>
            </a:r>
          </a:p>
          <a:p>
            <a:pPr>
              <a:lnSpc>
                <a:spcPct val="150000"/>
              </a:lnSpc>
            </a:pPr>
            <a:r>
              <a:rPr lang="cs-CZ" dirty="0"/>
              <a:t>Výsledek pravděpodobně limitován trénovací sadou dat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Omezený vzorek 500 lidí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Sledované veličiny – nedostatečné pro predikci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EE41153-C79F-75F2-F166-903C9E8F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5206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69800A-32A6-4B28-72AA-2DA0F60D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Děkuji za pozornost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8CF4500-78E7-5507-1553-97C417A5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8764C-041F-4485-A64C-B5188A1742A1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735299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7539</TotalTime>
  <Words>634</Words>
  <Application>Microsoft Office PowerPoint</Application>
  <PresentationFormat>Širokoúhlá obrazovka</PresentationFormat>
  <Paragraphs>153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Motiv Office</vt:lpstr>
      <vt:lpstr>Strojové učení v datové analýze: Predikce výskytu deprese u studentů VŠ pomocí neuronové sítě</vt:lpstr>
      <vt:lpstr>Dataset</vt:lpstr>
      <vt:lpstr>Dataset – proměnné</vt:lpstr>
      <vt:lpstr>Dataset – proměnné</vt:lpstr>
      <vt:lpstr>Lineární korelace</vt:lpstr>
      <vt:lpstr>Neuronová síť</vt:lpstr>
      <vt:lpstr>Neuronová síť</vt:lpstr>
      <vt:lpstr>Trénování</vt:lpstr>
      <vt:lpstr>Návrh sítě</vt:lpstr>
      <vt:lpstr>Realizace a trénování</vt:lpstr>
      <vt:lpstr>Výsledky</vt:lpstr>
      <vt:lpstr>Modelový student č.1</vt:lpstr>
      <vt:lpstr>Modelový student č.2</vt:lpstr>
      <vt:lpstr>Modelový student č.3</vt:lpstr>
      <vt:lpstr>Závěr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Kores Jan</dc:creator>
  <cp:lastModifiedBy>Kores Jan</cp:lastModifiedBy>
  <cp:revision>31</cp:revision>
  <dcterms:created xsi:type="dcterms:W3CDTF">2026-04-15T17:06:32Z</dcterms:created>
  <dcterms:modified xsi:type="dcterms:W3CDTF">2026-04-21T17:53:14Z</dcterms:modified>
</cp:coreProperties>
</file>